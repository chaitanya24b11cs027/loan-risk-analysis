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72" r:id="rId10"/>
    <p:sldId id="264" r:id="rId11"/>
    <p:sldId id="274" r:id="rId12"/>
    <p:sldId id="273" r:id="rId13"/>
    <p:sldId id="265" r:id="rId14"/>
    <p:sldId id="275" r:id="rId15"/>
    <p:sldId id="281" r:id="rId16"/>
    <p:sldId id="276" r:id="rId17"/>
    <p:sldId id="266" r:id="rId18"/>
    <p:sldId id="282" r:id="rId19"/>
    <p:sldId id="277" r:id="rId20"/>
    <p:sldId id="279" r:id="rId21"/>
    <p:sldId id="280" r:id="rId22"/>
    <p:sldId id="268" r:id="rId23"/>
    <p:sldId id="278" r:id="rId24"/>
    <p:sldId id="269" r:id="rId25"/>
    <p:sldId id="270" r:id="rId26"/>
    <p:sldId id="271" r:id="rId27"/>
  </p:sld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3" d="100"/>
          <a:sy n="73" d="100"/>
        </p:scale>
        <p:origin x="153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6031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098CD-909D-8A83-5C23-4AD5AEA44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982A8-59E4-4FB2-32CB-8C2F353CA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5998C9-38EC-CC86-14CC-3EB0A32CE8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548327-ACBC-78DA-B3B8-1E624522018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634193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5AB5C-2A36-DA11-E346-2D96830D26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CCF54-A3AE-D4B9-4D86-F177589DE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13D541-414C-D1EA-C596-5158CC022D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6D447F-1F84-4312-37AC-D8E82C1B453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14096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F0C03-1AB5-50DC-6B00-3008F8A8F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358A6A-6ACE-B4A8-B346-8BCA5CF451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0991C6-DE51-8A9A-BC59-4F6ECA370F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3BC9A4-6042-AE7F-ED2C-0B5191A7999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423349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F17A5-A564-D96D-D410-1FCDC51EF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C055AD-5CF9-107C-2464-8D1588116A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117E72-24CE-3788-44E1-4519AF9B5B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728E76-DB10-B269-9653-EE7A26F9F50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0204849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2E6F7-1A7A-0140-8C1A-69D065635D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A1718-1C87-31EA-6727-4C08D6A778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B19BCE-5EBA-3E67-FDE3-B6489992FA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22C2A1-8AD8-33E4-977B-D80E0BF43987}"/>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7681981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9C8CC-7804-8D19-D341-2EBC22AF3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763A4-E3FE-84E2-80C7-B9E20E819E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7C1347-61FC-6357-4573-C1FD087387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72C348-CB9D-3E53-5A0F-652E83C4D73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496176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283A7-C2EA-0A63-8481-A5C8768A2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E228B-0A9C-BE89-5E75-D4BDE32F21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6B0663-3EC0-B856-3877-7212239232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25AD4D-8D46-6F2A-C8DC-C4CBABBFE1F6}"/>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3319667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442F7-A694-A3B1-5D3F-DAD7CCE216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78BC1-7ABA-0E6E-BDD9-C951D07C0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F728F-5728-03D5-6281-C9DEDECB25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F27DF-26F9-AA70-A477-6B92A8AD5255}"/>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5698260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A6DA6-9457-8315-F69E-72A15CB4D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302953-9FC8-C62F-A96B-1AE1477DA7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0F191-699E-D8E4-B6E8-E4ED9072F7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B4E4A1-A894-8C9F-1B9D-5C4EFA360AB6}"/>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822784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4ED74-6D88-80D8-E059-86F36894A2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A97DA-A005-DF3C-1505-5D8168DF0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60720B-55AC-B2E9-BE17-A4C74DF815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5419E4-A456-1CC9-F25E-FB8E43FCE599}"/>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5903574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A87A2-B66E-F18A-79C9-D492A21F1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60D1AE-2555-45CF-D848-79F3A719B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2AA2AC-5FD4-869C-3816-CB6E9F30ED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5A26FD-1A53-4A6A-8DB6-9346DADC35BC}"/>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2659144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logo_big.jpg"/>
          <p:cNvPicPr>
            <a:picLocks noChangeAspect="1"/>
          </p:cNvPicPr>
          <p:nvPr/>
        </p:nvPicPr>
        <p:blipFill>
          <a:blip r:embed="rId3"/>
          <a:stretch>
            <a:fillRect/>
          </a:stretch>
        </p:blipFill>
        <p:spPr>
          <a:xfrm>
            <a:off x="2651760" y="182880"/>
            <a:ext cx="4572000" cy="590702"/>
          </a:xfrm>
          <a:prstGeom prst="rect">
            <a:avLst/>
          </a:prstGeom>
        </p:spPr>
      </p:pic>
      <p:sp>
        <p:nvSpPr>
          <p:cNvPr id="3" name="Text 0"/>
          <p:cNvSpPr txBox="1"/>
          <p:nvPr/>
        </p:nvSpPr>
        <p:spPr>
          <a:xfrm>
            <a:off x="914400" y="1280160"/>
            <a:ext cx="8229600" cy="1097280"/>
          </a:xfrm>
          <a:prstGeom prst="rect">
            <a:avLst/>
          </a:prstGeom>
          <a:noFill/>
          <a:ln/>
        </p:spPr>
        <p:txBody>
          <a:bodyPr wrap="square" lIns="0" tIns="0" rIns="0" bIns="0" rtlCol="0" anchor="ctr"/>
          <a:lstStyle/>
          <a:p>
            <a:pPr marL="0" indent="0" algn="ctr">
              <a:buNone/>
            </a:pPr>
            <a:r>
              <a:rPr lang="en-US" sz="2400" b="1" dirty="0">
                <a:solidFill>
                  <a:srgbClr val="585719"/>
                </a:solidFill>
                <a:latin typeface="Times New Roman" pitchFamily="34" charset="0"/>
                <a:ea typeface="Times New Roman" pitchFamily="34" charset="-122"/>
                <a:cs typeface="Times New Roman" pitchFamily="34" charset="-120"/>
              </a:rPr>
              <a:t>Machine Learning Project</a:t>
            </a:r>
            <a:endParaRPr lang="en-US" sz="2400" dirty="0"/>
          </a:p>
          <a:p>
            <a:pPr marL="0" indent="0" algn="ctr">
              <a:buNone/>
            </a:pPr>
            <a:r>
              <a:rPr lang="en-US" sz="2200" b="1" dirty="0">
                <a:solidFill>
                  <a:srgbClr val="008000"/>
                </a:solidFill>
                <a:latin typeface="Times New Roman" pitchFamily="34" charset="0"/>
                <a:ea typeface="Times New Roman" pitchFamily="34" charset="-122"/>
                <a:cs typeface="Times New Roman" pitchFamily="34" charset="-120"/>
              </a:rPr>
              <a:t>REVIEW</a:t>
            </a:r>
            <a:endParaRPr lang="en-US" sz="2400" dirty="0"/>
          </a:p>
        </p:txBody>
      </p:sp>
      <p:sp>
        <p:nvSpPr>
          <p:cNvPr id="4" name="Text 1"/>
          <p:cNvSpPr txBox="1"/>
          <p:nvPr/>
        </p:nvSpPr>
        <p:spPr>
          <a:xfrm>
            <a:off x="914400" y="2743200"/>
            <a:ext cx="8229600" cy="548640"/>
          </a:xfrm>
          <a:prstGeom prst="rect">
            <a:avLst/>
          </a:prstGeom>
          <a:noFill/>
          <a:ln/>
        </p:spPr>
        <p:txBody>
          <a:bodyPr wrap="square" lIns="0" tIns="0" rIns="0" bIns="0" rtlCol="0" anchor="ctr"/>
          <a:lstStyle/>
          <a:p>
            <a:pPr marL="0" indent="0" algn="ctr">
              <a:buNone/>
            </a:pPr>
            <a:r>
              <a:rPr lang="en-US" sz="2400" b="1" dirty="0">
                <a:solidFill>
                  <a:srgbClr val="008000"/>
                </a:solidFill>
                <a:latin typeface="Times New Roman" pitchFamily="34" charset="0"/>
                <a:ea typeface="Times New Roman" pitchFamily="34" charset="-122"/>
                <a:cs typeface="Times New Roman" pitchFamily="34" charset="-120"/>
              </a:rPr>
              <a:t>Loan  Risk Prediction </a:t>
            </a:r>
            <a:r>
              <a:rPr lang="en-US" sz="2400" b="1" dirty="0" err="1">
                <a:solidFill>
                  <a:srgbClr val="008000"/>
                </a:solidFill>
                <a:latin typeface="Times New Roman" pitchFamily="34" charset="0"/>
                <a:ea typeface="Times New Roman" pitchFamily="34" charset="-122"/>
                <a:cs typeface="Times New Roman" pitchFamily="34" charset="-120"/>
              </a:rPr>
              <a:t>Assesment</a:t>
            </a:r>
            <a:r>
              <a:rPr lang="en-US" sz="2400" b="1" dirty="0">
                <a:solidFill>
                  <a:srgbClr val="008000"/>
                </a:solidFill>
                <a:latin typeface="Times New Roman" pitchFamily="34" charset="0"/>
                <a:ea typeface="Times New Roman" pitchFamily="34" charset="-122"/>
                <a:cs typeface="Times New Roman" pitchFamily="34" charset="-120"/>
              </a:rPr>
              <a:t> System</a:t>
            </a:r>
            <a:endParaRPr lang="en-US" sz="2400" dirty="0"/>
          </a:p>
        </p:txBody>
      </p:sp>
      <p:sp>
        <p:nvSpPr>
          <p:cNvPr id="5" name="Text 2"/>
          <p:cNvSpPr txBox="1"/>
          <p:nvPr/>
        </p:nvSpPr>
        <p:spPr>
          <a:xfrm>
            <a:off x="914400" y="3566160"/>
            <a:ext cx="8229600" cy="457200"/>
          </a:xfrm>
          <a:prstGeom prst="rect">
            <a:avLst/>
          </a:prstGeom>
          <a:noFill/>
          <a:ln/>
        </p:spPr>
        <p:txBody>
          <a:bodyPr wrap="square" lIns="0" tIns="0" rIns="0" bIns="0" rtlCol="0" anchor="ctr"/>
          <a:lstStyle/>
          <a:p>
            <a:pPr marL="0" indent="0" algn="ctr">
              <a:buNone/>
            </a:pPr>
            <a:r>
              <a:rPr lang="en-US" sz="2200" b="1" dirty="0">
                <a:solidFill>
                  <a:srgbClr val="FF0000"/>
                </a:solidFill>
                <a:latin typeface="Times New Roman" pitchFamily="34" charset="0"/>
                <a:ea typeface="Times New Roman" pitchFamily="34" charset="-122"/>
                <a:cs typeface="Times New Roman" pitchFamily="34" charset="-120"/>
              </a:rPr>
              <a:t>Presented by</a:t>
            </a:r>
            <a:endParaRPr lang="en-US" sz="2200" dirty="0"/>
          </a:p>
        </p:txBody>
      </p:sp>
      <p:sp>
        <p:nvSpPr>
          <p:cNvPr id="6" name="Text 3"/>
          <p:cNvSpPr txBox="1"/>
          <p:nvPr/>
        </p:nvSpPr>
        <p:spPr>
          <a:xfrm>
            <a:off x="2743199" y="4114800"/>
            <a:ext cx="5812221" cy="1463040"/>
          </a:xfrm>
          <a:prstGeom prst="rect">
            <a:avLst/>
          </a:prstGeom>
          <a:noFill/>
          <a:ln/>
        </p:spPr>
        <p:txBody>
          <a:bodyPr wrap="square" lIns="0" tIns="0" rIns="0" bIns="0" rtlCol="0" anchor="t"/>
          <a:lstStyle/>
          <a:p>
            <a:pPr marL="0" indent="0" algn="l">
              <a:spcAft>
                <a:spcPts val="400"/>
              </a:spcAft>
              <a:buNone/>
            </a:pPr>
            <a:r>
              <a:rPr lang="en-US" sz="2000" b="1" dirty="0">
                <a:solidFill>
                  <a:srgbClr val="000000"/>
                </a:solidFill>
                <a:latin typeface="Times New Roman" pitchFamily="34" charset="0"/>
                <a:ea typeface="Times New Roman" pitchFamily="34" charset="-122"/>
                <a:cs typeface="Times New Roman" pitchFamily="34" charset="-120"/>
              </a:rPr>
              <a:t>Mr. </a:t>
            </a:r>
            <a:r>
              <a:rPr lang="en-US" sz="2000" b="1" dirty="0" err="1">
                <a:solidFill>
                  <a:srgbClr val="000000"/>
                </a:solidFill>
                <a:latin typeface="Times New Roman" pitchFamily="34" charset="0"/>
                <a:ea typeface="Times New Roman" pitchFamily="34" charset="-122"/>
                <a:cs typeface="Times New Roman" pitchFamily="34" charset="-120"/>
              </a:rPr>
              <a:t>B.Chaitanya</a:t>
            </a:r>
            <a:r>
              <a:rPr lang="en-US" sz="2000" b="1" dirty="0">
                <a:solidFill>
                  <a:srgbClr val="000000"/>
                </a:solidFill>
                <a:latin typeface="Times New Roman" pitchFamily="34" charset="0"/>
                <a:ea typeface="Times New Roman" pitchFamily="34" charset="-122"/>
                <a:cs typeface="Times New Roman" pitchFamily="34" charset="-120"/>
              </a:rPr>
              <a:t> (</a:t>
            </a:r>
            <a:r>
              <a:rPr lang="en-US" sz="2000" b="1" dirty="0" err="1">
                <a:solidFill>
                  <a:srgbClr val="000000"/>
                </a:solidFill>
                <a:latin typeface="Times New Roman" pitchFamily="34" charset="0"/>
                <a:ea typeface="Times New Roman" pitchFamily="34" charset="-122"/>
                <a:cs typeface="Times New Roman" pitchFamily="34" charset="-120"/>
              </a:rPr>
              <a:t>24B11CS027</a:t>
            </a:r>
            <a:r>
              <a:rPr lang="en-US" sz="2000" b="1" dirty="0">
                <a:solidFill>
                  <a:srgbClr val="000000"/>
                </a:solidFill>
                <a:latin typeface="Times New Roman" pitchFamily="34" charset="0"/>
                <a:ea typeface="Times New Roman" pitchFamily="34" charset="-122"/>
                <a:cs typeface="Times New Roman" pitchFamily="34" charset="-120"/>
              </a:rPr>
              <a:t>)</a:t>
            </a:r>
            <a:endParaRPr lang="en-US" sz="2000" dirty="0"/>
          </a:p>
          <a:p>
            <a:pPr>
              <a:spcAft>
                <a:spcPts val="400"/>
              </a:spcAft>
            </a:pPr>
            <a:r>
              <a:rPr lang="en-US" sz="2000" b="1" dirty="0">
                <a:solidFill>
                  <a:srgbClr val="000000"/>
                </a:solidFill>
                <a:latin typeface="Times New Roman" pitchFamily="34" charset="0"/>
                <a:ea typeface="Times New Roman" pitchFamily="34" charset="-122"/>
                <a:cs typeface="Times New Roman" pitchFamily="34" charset="-120"/>
              </a:rPr>
              <a:t>Mr. </a:t>
            </a:r>
            <a:r>
              <a:rPr lang="en-US" sz="2000" b="1" dirty="0" err="1">
                <a:solidFill>
                  <a:srgbClr val="000000"/>
                </a:solidFill>
                <a:latin typeface="Times New Roman" pitchFamily="34" charset="0"/>
                <a:ea typeface="Times New Roman" pitchFamily="34" charset="-122"/>
                <a:cs typeface="Times New Roman" pitchFamily="34" charset="-120"/>
              </a:rPr>
              <a:t>S.Teja</a:t>
            </a:r>
            <a:r>
              <a:rPr lang="en-US" sz="2000" b="1" dirty="0">
                <a:solidFill>
                  <a:srgbClr val="000000"/>
                </a:solidFill>
                <a:latin typeface="Times New Roman" pitchFamily="34" charset="0"/>
                <a:ea typeface="Times New Roman" pitchFamily="34" charset="-122"/>
                <a:cs typeface="Times New Roman" pitchFamily="34" charset="-120"/>
              </a:rPr>
              <a:t> Naga Satya Ganesh(</a:t>
            </a:r>
            <a:r>
              <a:rPr lang="en-US" sz="2000" b="1" dirty="0" err="1">
                <a:solidFill>
                  <a:srgbClr val="000000"/>
                </a:solidFill>
                <a:latin typeface="Times New Roman" pitchFamily="34" charset="0"/>
                <a:ea typeface="Times New Roman" pitchFamily="34" charset="-122"/>
                <a:cs typeface="Times New Roman" pitchFamily="34" charset="-120"/>
              </a:rPr>
              <a:t>24B11CS394</a:t>
            </a:r>
            <a:r>
              <a:rPr lang="en-US" sz="2000" b="1" dirty="0">
                <a:solidFill>
                  <a:srgbClr val="000000"/>
                </a:solidFill>
                <a:latin typeface="Times New Roman" pitchFamily="34" charset="0"/>
                <a:ea typeface="Times New Roman" pitchFamily="34" charset="-122"/>
                <a:cs typeface="Times New Roman" pitchFamily="34" charset="-120"/>
              </a:rPr>
              <a:t>)</a:t>
            </a:r>
            <a:endParaRPr lang="en-US" sz="2000" dirty="0"/>
          </a:p>
          <a:p>
            <a:pPr>
              <a:spcAft>
                <a:spcPts val="400"/>
              </a:spcAft>
            </a:pPr>
            <a:r>
              <a:rPr lang="en-US" sz="2000" b="1" dirty="0">
                <a:solidFill>
                  <a:srgbClr val="000000"/>
                </a:solidFill>
                <a:latin typeface="Times New Roman" pitchFamily="34" charset="0"/>
                <a:ea typeface="Times New Roman" pitchFamily="34" charset="-122"/>
                <a:cs typeface="Times New Roman" pitchFamily="34" charset="-120"/>
              </a:rPr>
              <a:t>Mr. K. Yugandhar (</a:t>
            </a:r>
            <a:r>
              <a:rPr lang="en-US" sz="2000" b="1" dirty="0" err="1">
                <a:solidFill>
                  <a:srgbClr val="000000"/>
                </a:solidFill>
                <a:latin typeface="Times New Roman" pitchFamily="34" charset="0"/>
                <a:ea typeface="Times New Roman" pitchFamily="34" charset="-122"/>
                <a:cs typeface="Times New Roman" pitchFamily="34" charset="-120"/>
              </a:rPr>
              <a:t>24B11CS205</a:t>
            </a:r>
            <a:r>
              <a:rPr lang="en-US" sz="2000" b="1" dirty="0">
                <a:solidFill>
                  <a:srgbClr val="000000"/>
                </a:solidFill>
                <a:latin typeface="Times New Roman" pitchFamily="34" charset="0"/>
                <a:ea typeface="Times New Roman" pitchFamily="34" charset="-122"/>
                <a:cs typeface="Times New Roman" pitchFamily="34" charset="-120"/>
              </a:rPr>
              <a:t>)</a:t>
            </a:r>
            <a:endParaRPr lang="en-US" sz="2000" dirty="0"/>
          </a:p>
          <a:p>
            <a:pPr>
              <a:spcAft>
                <a:spcPts val="400"/>
              </a:spcAft>
            </a:pPr>
            <a:r>
              <a:rPr lang="en-US" sz="2000" b="1" dirty="0">
                <a:solidFill>
                  <a:srgbClr val="000000"/>
                </a:solidFill>
                <a:latin typeface="Times New Roman" pitchFamily="34" charset="0"/>
                <a:ea typeface="Times New Roman" pitchFamily="34" charset="-122"/>
                <a:cs typeface="Times New Roman" pitchFamily="34" charset="-120"/>
              </a:rPr>
              <a:t>Mr. A. Sumanth(</a:t>
            </a:r>
            <a:r>
              <a:rPr lang="en-US" sz="2000" b="1" dirty="0" err="1">
                <a:solidFill>
                  <a:srgbClr val="000000"/>
                </a:solidFill>
                <a:latin typeface="Times New Roman" pitchFamily="34" charset="0"/>
                <a:ea typeface="Times New Roman" pitchFamily="34" charset="-122"/>
                <a:cs typeface="Times New Roman" pitchFamily="34" charset="-120"/>
              </a:rPr>
              <a:t>25B21CS011</a:t>
            </a:r>
            <a:r>
              <a:rPr lang="en-US" sz="2000" b="1" dirty="0">
                <a:solidFill>
                  <a:srgbClr val="000000"/>
                </a:solidFill>
                <a:latin typeface="Times New Roman" pitchFamily="34" charset="0"/>
                <a:ea typeface="Times New Roman" pitchFamily="34" charset="-122"/>
                <a:cs typeface="Times New Roman" pitchFamily="34" charset="-120"/>
              </a:rPr>
              <a:t>)</a:t>
            </a:r>
            <a:endParaRPr lang="en-US" sz="2000" dirty="0"/>
          </a:p>
        </p:txBody>
      </p:sp>
      <p:sp>
        <p:nvSpPr>
          <p:cNvPr id="7" name="Text 4"/>
          <p:cNvSpPr txBox="1"/>
          <p:nvPr/>
        </p:nvSpPr>
        <p:spPr>
          <a:xfrm>
            <a:off x="914400" y="6126480"/>
            <a:ext cx="8229600" cy="457200"/>
          </a:xfrm>
          <a:prstGeom prst="rect">
            <a:avLst/>
          </a:prstGeom>
          <a:noFill/>
          <a:ln/>
        </p:spPr>
        <p:txBody>
          <a:bodyPr wrap="square" lIns="0" tIns="0" rIns="0" bIns="0" rtlCol="0" anchor="ctr"/>
          <a:lstStyle/>
          <a:p>
            <a:pPr marL="0" indent="0" algn="ctr">
              <a:buNone/>
            </a:pPr>
            <a:r>
              <a:rPr lang="en-US" sz="2200" b="1" dirty="0">
                <a:solidFill>
                  <a:srgbClr val="0070C0"/>
                </a:solidFill>
                <a:latin typeface="Times New Roman" pitchFamily="34" charset="0"/>
                <a:ea typeface="Times New Roman" pitchFamily="34" charset="-122"/>
                <a:cs typeface="Times New Roman" pitchFamily="34" charset="-120"/>
              </a:rPr>
              <a:t>Department of Computer Science And Engineering</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INTRODUCTION</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Loan Risk Assessment System</a:t>
            </a:r>
            <a:r>
              <a:rPr lang="en-IN" sz="2000" dirty="0">
                <a:latin typeface="Times New Roman" panose="02020603050405020304" pitchFamily="18" charset="0"/>
                <a:cs typeface="Times New Roman" panose="02020603050405020304" pitchFamily="18" charset="0"/>
              </a:rPr>
              <a:t> is a machine learning-based application that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an applicant’s financial and loan-related information to estimate the risk associated with a loan application.</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Simplicity:</a:t>
            </a:r>
            <a:r>
              <a:rPr lang="en-IN" sz="2000" dirty="0">
                <a:latin typeface="Times New Roman" panose="02020603050405020304" pitchFamily="18" charset="0"/>
                <a:cs typeface="Times New Roman" panose="02020603050405020304" pitchFamily="18" charset="0"/>
              </a:rPr>
              <a:t> User-friendly input fields allow applicants to provide basic personal, financial, and credit information without technical knowledge.</a:t>
            </a:r>
          </a:p>
          <a:p>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Accuracy:</a:t>
            </a:r>
            <a:r>
              <a:rPr lang="en-IN" sz="2000" dirty="0">
                <a:latin typeface="Times New Roman" panose="02020603050405020304" pitchFamily="18" charset="0"/>
                <a:cs typeface="Times New Roman" panose="02020603050405020304" pitchFamily="18" charset="0"/>
              </a:rPr>
              <a:t> Multiple trained machine learning models are used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the applicant’s data and provide a reliable loan risk prediction.</a:t>
            </a:r>
          </a:p>
          <a:p>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Speed:</a:t>
            </a:r>
            <a:r>
              <a:rPr lang="en-IN" sz="2000" dirty="0">
                <a:latin typeface="Times New Roman" panose="02020603050405020304" pitchFamily="18" charset="0"/>
                <a:cs typeface="Times New Roman" panose="02020603050405020304" pitchFamily="18" charset="0"/>
              </a:rPr>
              <a:t> The system processes the entered information quickly and provides the risk assessment result instantly.</a:t>
            </a:r>
          </a:p>
          <a:p>
            <a:r>
              <a:rPr lang="en-IN" sz="2000" b="1" dirty="0">
                <a:latin typeface="Times New Roman" panose="02020603050405020304" pitchFamily="18" charset="0"/>
                <a:cs typeface="Times New Roman" panose="02020603050405020304" pitchFamily="18" charset="0"/>
              </a:rPr>
              <a:t>Technology Stack:</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Language:</a:t>
            </a:r>
            <a:r>
              <a:rPr lang="en-IN" sz="2000" dirty="0">
                <a:latin typeface="Times New Roman" panose="02020603050405020304" pitchFamily="18" charset="0"/>
                <a:cs typeface="Times New Roman" panose="02020603050405020304" pitchFamily="18" charset="0"/>
              </a:rPr>
              <a:t> Python</a:t>
            </a:r>
          </a:p>
          <a:p>
            <a:r>
              <a:rPr lang="en-IN" sz="2000" b="1" dirty="0">
                <a:latin typeface="Times New Roman" panose="02020603050405020304" pitchFamily="18" charset="0"/>
                <a:cs typeface="Times New Roman" panose="02020603050405020304" pitchFamily="18" charset="0"/>
              </a:rPr>
              <a:t>Libraries:</a:t>
            </a:r>
            <a:r>
              <a:rPr lang="en-IN" sz="2000" dirty="0">
                <a:latin typeface="Times New Roman" panose="02020603050405020304" pitchFamily="18" charset="0"/>
                <a:cs typeface="Times New Roman" panose="02020603050405020304" pitchFamily="18" charset="0"/>
              </a:rPr>
              <a:t> pandas, NumPy, scikit-learn,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imbalanced-learn, pickle</a:t>
            </a:r>
          </a:p>
          <a:p>
            <a:r>
              <a:rPr lang="en-IN" sz="2000" b="1" dirty="0">
                <a:latin typeface="Times New Roman" panose="02020603050405020304" pitchFamily="18" charset="0"/>
                <a:cs typeface="Times New Roman" panose="02020603050405020304" pitchFamily="18" charset="0"/>
              </a:rPr>
              <a:t>Models:</a:t>
            </a:r>
            <a:r>
              <a:rPr lang="en-IN" sz="2000" dirty="0">
                <a:latin typeface="Times New Roman" panose="02020603050405020304" pitchFamily="18" charset="0"/>
                <a:cs typeface="Times New Roman" panose="02020603050405020304" pitchFamily="18" charset="0"/>
              </a:rPr>
              <a:t> Logistic Regression, Random Forest, </a:t>
            </a:r>
            <a:r>
              <a:rPr lang="en-IN" sz="2000" dirty="0" err="1">
                <a:latin typeface="Times New Roman" panose="02020603050405020304" pitchFamily="18" charset="0"/>
                <a:cs typeface="Times New Roman" panose="02020603050405020304" pitchFamily="18" charset="0"/>
              </a:rPr>
              <a:t>XGBoost</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Techniques:</a:t>
            </a:r>
            <a:r>
              <a:rPr lang="en-IN" sz="2000" dirty="0">
                <a:latin typeface="Times New Roman" panose="02020603050405020304" pitchFamily="18" charset="0"/>
                <a:cs typeface="Times New Roman" panose="02020603050405020304" pitchFamily="18" charset="0"/>
              </a:rPr>
              <a:t> Data Preprocessing, Feature Engineering, SMOTE</a:t>
            </a:r>
          </a:p>
          <a:p>
            <a:r>
              <a:rPr lang="en-IN" sz="2000" b="1" dirty="0">
                <a:latin typeface="Times New Roman" panose="02020603050405020304" pitchFamily="18" charset="0"/>
                <a:cs typeface="Times New Roman" panose="02020603050405020304" pitchFamily="18" charset="0"/>
              </a:rPr>
              <a:t>Interface: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Streamlit</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Tools:</a:t>
            </a:r>
            <a:r>
              <a:rPr lang="en-IN" sz="2000" dirty="0">
                <a:latin typeface="Times New Roman" panose="02020603050405020304" pitchFamily="18" charset="0"/>
                <a:cs typeface="Times New Roman" panose="02020603050405020304" pitchFamily="18" charset="0"/>
              </a:rPr>
              <a:t> VS Code, Google </a:t>
            </a:r>
            <a:r>
              <a:rPr lang="en-IN" sz="2000" dirty="0" err="1">
                <a:latin typeface="Times New Roman" panose="02020603050405020304" pitchFamily="18" charset="0"/>
                <a:cs typeface="Times New Roman" panose="02020603050405020304" pitchFamily="18" charset="0"/>
              </a:rPr>
              <a:t>Colab</a:t>
            </a:r>
            <a:r>
              <a:rPr lang="en-IN" sz="2000" dirty="0">
                <a:latin typeface="Times New Roman" panose="02020603050405020304" pitchFamily="18" charset="0"/>
                <a:cs typeface="Times New Roman" panose="02020603050405020304" pitchFamily="18" charset="0"/>
              </a:rPr>
              <a:t>, Command Prompt / Terminal</a:t>
            </a:r>
          </a:p>
          <a:p>
            <a:pPr marL="342900" indent="-342900" algn="l">
              <a:spcAft>
                <a:spcPts val="1400"/>
              </a:spcAft>
              <a:buSzPct val="100000"/>
              <a:buChar char="•"/>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PROBLEM STATEMENT</a:t>
            </a:r>
            <a:endParaRPr lang="en-US" sz="1950" dirty="0"/>
          </a:p>
        </p:txBody>
      </p:sp>
      <p:sp>
        <p:nvSpPr>
          <p:cNvPr id="4" name="Text 1"/>
          <p:cNvSpPr txBox="1"/>
          <p:nvPr/>
        </p:nvSpPr>
        <p:spPr>
          <a:xfrm>
            <a:off x="731520" y="1280160"/>
            <a:ext cx="8317887" cy="3712254"/>
          </a:xfrm>
          <a:prstGeom prst="rect">
            <a:avLst/>
          </a:prstGeom>
          <a:noFill/>
          <a:ln/>
        </p:spPr>
        <p:txBody>
          <a:bodyPr wrap="square" lIns="0" tIns="0" rIns="0" bIns="0" rtlCol="0" anchor="t"/>
          <a:lstStyle/>
          <a:p>
            <a:pPr>
              <a:spcAft>
                <a:spcPts val="1400"/>
              </a:spcAft>
            </a:pPr>
            <a:r>
              <a:rPr lang="en-IN" sz="2000" dirty="0">
                <a:latin typeface="Times New Roman" panose="02020603050405020304" pitchFamily="18" charset="0"/>
                <a:cs typeface="Times New Roman" panose="02020603050405020304" pitchFamily="18" charset="0"/>
              </a:rPr>
              <a:t>Traditional loan assessment methods may be time-consuming and less effective in identifying high-risk applicants. This project uses loan and financial history data with Machine Learning to provide accurate, data-driven loan risk assessment. The system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important factors such as income, loan amount, credit history, previous loans, repayment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and existing debt to identify the risk associated with a loan application. By combining relevant financial information and applying suitable machine learning algorithms, the system helps in making faster and more consistent risk assessments. The proposed system can support financial institutions in reducing potential loan risks and improving the overall loan evaluation process.</a:t>
            </a:r>
          </a:p>
          <a:p>
            <a:pPr marL="0" indent="0" algn="l">
              <a:spcAft>
                <a:spcPts val="1400"/>
              </a:spcAft>
              <a:buNone/>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OBJECTIVES OF THE PROJECT</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clean and prepare the </a:t>
            </a:r>
            <a:r>
              <a:rPr lang="en-IN" sz="2000" b="1" dirty="0">
                <a:latin typeface="Times New Roman" panose="02020603050405020304" pitchFamily="18" charset="0"/>
                <a:cs typeface="Times New Roman" panose="02020603050405020304" pitchFamily="18" charset="0"/>
              </a:rPr>
              <a:t>loan application and financial history datasets</a:t>
            </a:r>
            <a:r>
              <a:rPr lang="en-IN" sz="2000" dirty="0">
                <a:latin typeface="Times New Roman" panose="02020603050405020304" pitchFamily="18" charset="0"/>
                <a:cs typeface="Times New Roman" panose="02020603050405020304" pitchFamily="18" charset="0"/>
              </a:rPr>
              <a:t> for analysis.</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identify and select the </a:t>
            </a:r>
            <a:r>
              <a:rPr lang="en-IN" sz="2000" b="1" dirty="0">
                <a:latin typeface="Times New Roman" panose="02020603050405020304" pitchFamily="18" charset="0"/>
                <a:cs typeface="Times New Roman" panose="02020603050405020304" pitchFamily="18" charset="0"/>
              </a:rPr>
              <a:t>most relevant financial and loan-related features</a:t>
            </a:r>
            <a:r>
              <a:rPr lang="en-IN" sz="2000" dirty="0">
                <a:latin typeface="Times New Roman" panose="02020603050405020304" pitchFamily="18" charset="0"/>
                <a:cs typeface="Times New Roman" panose="02020603050405020304" pitchFamily="18" charset="0"/>
              </a:rPr>
              <a:t> for risk prediction.</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integrate loan application data with </a:t>
            </a:r>
            <a:r>
              <a:rPr lang="en-IN" sz="2000" b="1" dirty="0">
                <a:latin typeface="Times New Roman" panose="02020603050405020304" pitchFamily="18" charset="0"/>
                <a:cs typeface="Times New Roman" panose="02020603050405020304" pitchFamily="18" charset="0"/>
              </a:rPr>
              <a:t>previous financial and credit history</a:t>
            </a:r>
            <a:r>
              <a:rPr lang="en-IN" sz="2000" dirty="0">
                <a:latin typeface="Times New Roman" panose="02020603050405020304" pitchFamily="18" charset="0"/>
                <a:cs typeface="Times New Roman" panose="02020603050405020304" pitchFamily="18" charset="0"/>
              </a:rPr>
              <a:t> for better assessment.</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train and compare </a:t>
            </a:r>
            <a:r>
              <a:rPr lang="en-IN" sz="2000" b="1" dirty="0">
                <a:latin typeface="Times New Roman" panose="02020603050405020304" pitchFamily="18" charset="0"/>
                <a:cs typeface="Times New Roman" panose="02020603050405020304" pitchFamily="18" charset="0"/>
              </a:rPr>
              <a:t>three Machine Learning models</a:t>
            </a:r>
            <a:r>
              <a:rPr lang="en-IN" sz="2000" dirty="0">
                <a:latin typeface="Times New Roman" panose="02020603050405020304" pitchFamily="18" charset="0"/>
                <a:cs typeface="Times New Roman" panose="02020603050405020304" pitchFamily="18" charset="0"/>
              </a:rPr>
              <a:t> — Logistic Regression, Random Forest, and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handle </a:t>
            </a:r>
            <a:r>
              <a:rPr lang="en-IN" sz="2000" b="1" dirty="0">
                <a:latin typeface="Times New Roman" panose="02020603050405020304" pitchFamily="18" charset="0"/>
                <a:cs typeface="Times New Roman" panose="02020603050405020304" pitchFamily="18" charset="0"/>
              </a:rPr>
              <a:t>imbalanced data using SMOTE</a:t>
            </a:r>
            <a:r>
              <a:rPr lang="en-IN" sz="2000" dirty="0">
                <a:latin typeface="Times New Roman" panose="02020603050405020304" pitchFamily="18" charset="0"/>
                <a:cs typeface="Times New Roman" panose="02020603050405020304" pitchFamily="18" charset="0"/>
              </a:rPr>
              <a:t> and improve the reliability of model predictions.</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predict the </a:t>
            </a:r>
            <a:r>
              <a:rPr lang="en-IN" sz="2000" b="1" dirty="0">
                <a:latin typeface="Times New Roman" panose="02020603050405020304" pitchFamily="18" charset="0"/>
                <a:cs typeface="Times New Roman" panose="02020603050405020304" pitchFamily="18" charset="0"/>
              </a:rPr>
              <a:t>risk level of a loan applicant</a:t>
            </a:r>
            <a:r>
              <a:rPr lang="en-IN" sz="2000" dirty="0">
                <a:latin typeface="Times New Roman" panose="02020603050405020304" pitchFamily="18" charset="0"/>
                <a:cs typeface="Times New Roman" panose="02020603050405020304" pitchFamily="18" charset="0"/>
              </a:rPr>
              <a:t> based on the provided financial information.</a:t>
            </a:r>
          </a:p>
          <a:p>
            <a:pPr marL="457200" lvl="0" indent="-457200">
              <a:buFont typeface="+mj-lt"/>
              <a:buAutoNum type="arabicPeriod"/>
            </a:pPr>
            <a:r>
              <a:rPr lang="en-IN" sz="2000" dirty="0">
                <a:latin typeface="Times New Roman" panose="02020603050405020304" pitchFamily="18" charset="0"/>
                <a:cs typeface="Times New Roman" panose="02020603050405020304" pitchFamily="18" charset="0"/>
              </a:rPr>
              <a:t>To provide the prediction through a </a:t>
            </a:r>
            <a:r>
              <a:rPr lang="en-IN" sz="2000" b="1" dirty="0">
                <a:latin typeface="Times New Roman" panose="02020603050405020304" pitchFamily="18" charset="0"/>
                <a:cs typeface="Times New Roman" panose="02020603050405020304" pitchFamily="18" charset="0"/>
              </a:rPr>
              <a:t>simple and user-friendly </a:t>
            </a:r>
            <a:r>
              <a:rPr lang="en-IN" sz="2000" b="1" dirty="0" err="1">
                <a:latin typeface="Times New Roman" panose="02020603050405020304" pitchFamily="18" charset="0"/>
                <a:cs typeface="Times New Roman" panose="02020603050405020304" pitchFamily="18" charset="0"/>
              </a:rPr>
              <a:t>Streamlit</a:t>
            </a:r>
            <a:r>
              <a:rPr lang="en-IN" sz="2000" b="1" dirty="0">
                <a:latin typeface="Times New Roman" panose="02020603050405020304" pitchFamily="18" charset="0"/>
                <a:cs typeface="Times New Roman" panose="02020603050405020304" pitchFamily="18" charset="0"/>
              </a:rPr>
              <a:t> interface</a:t>
            </a:r>
            <a:r>
              <a:rPr lang="en-IN" sz="2000" dirty="0">
                <a:latin typeface="Times New Roman" panose="02020603050405020304" pitchFamily="18" charset="0"/>
                <a:cs typeface="Times New Roman" panose="02020603050405020304" pitchFamily="18" charset="0"/>
              </a:rPr>
              <a:t>.</a:t>
            </a:r>
          </a:p>
          <a:p>
            <a:pPr marL="457200" indent="-457200">
              <a:spcAft>
                <a:spcPts val="1400"/>
              </a:spcAft>
              <a:buFont typeface="+mj-lt"/>
              <a:buAutoNum type="arabicPeriod"/>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SCOPE OF THE PROJECT</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scope of the Loan Risk Assessment System is to develop a Machine Learning-based system that helps assess the risk associated with loan applications using applicant and financial history data. The system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important factors such as income, loan amount, employment details, credit history, previous loans, repayment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and existing debt.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project includes data collection, data preprocessing, data integration, exploratory data analysis, feature engineering, and handling of imbalanced data. Machine Learning algorithms such as Logistic Regression, Random Forest, and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are trained and compared to identify the model suitable for loan risk prediction.</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also provides a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-based user interface where users can enter applicant information and receive a loan risk prediction. The proposed system can assist banks and financial institutions in making faster and more consistent preliminary loan assessments. It can also be extended in the future by incorporating larger datasets, additional financial features, real-time data, and advanced Machine Learning techniques.</a:t>
            </a:r>
          </a:p>
          <a:p>
            <a:pPr marL="342900" indent="-342900" algn="just">
              <a:spcAft>
                <a:spcPts val="1400"/>
              </a:spcAf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MODULE DESCRIPTION</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The system consists of the following modules:</a:t>
            </a:r>
            <a:endParaRPr lang="en-US" sz="2000" dirty="0"/>
          </a:p>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1.  </a:t>
            </a:r>
            <a:r>
              <a:rPr lang="en-US" sz="2000" b="1" dirty="0">
                <a:solidFill>
                  <a:srgbClr val="000000"/>
                </a:solidFill>
                <a:latin typeface="Times New Roman" pitchFamily="34" charset="0"/>
                <a:ea typeface="Times New Roman" pitchFamily="34" charset="-122"/>
                <a:cs typeface="Times New Roman" pitchFamily="34" charset="-120"/>
              </a:rPr>
              <a:t>Preprocessing Module (preprocess.py):</a:t>
            </a:r>
            <a:r>
              <a:rPr lang="en-US" sz="2000" dirty="0">
                <a:solidFill>
                  <a:srgbClr val="000000"/>
                </a:solidFill>
                <a:latin typeface="Times New Roman" pitchFamily="34" charset="0"/>
                <a:ea typeface="Times New Roman" pitchFamily="34" charset="-122"/>
                <a:cs typeface="Times New Roman" pitchFamily="34" charset="-120"/>
              </a:rPr>
              <a:t> Cleans the data, encodes text columns, selects features and saves the tools.</a:t>
            </a:r>
            <a:endParaRPr lang="en-US" sz="2000" dirty="0"/>
          </a:p>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2.  </a:t>
            </a:r>
            <a:r>
              <a:rPr lang="en-US" sz="2000" b="1" dirty="0">
                <a:solidFill>
                  <a:srgbClr val="000000"/>
                </a:solidFill>
                <a:latin typeface="Times New Roman" pitchFamily="34" charset="0"/>
                <a:ea typeface="Times New Roman" pitchFamily="34" charset="-122"/>
                <a:cs typeface="Times New Roman" pitchFamily="34" charset="-120"/>
              </a:rPr>
              <a:t>Training Module (train_models.py):</a:t>
            </a:r>
            <a:r>
              <a:rPr lang="en-US" sz="2000" dirty="0">
                <a:solidFill>
                  <a:srgbClr val="000000"/>
                </a:solidFill>
                <a:latin typeface="Times New Roman" pitchFamily="34" charset="0"/>
                <a:ea typeface="Times New Roman" pitchFamily="34" charset="-122"/>
                <a:cs typeface="Times New Roman" pitchFamily="34" charset="-120"/>
              </a:rPr>
              <a:t> Trains Logistic Regression, Decision Tree and Random Forest and compares them.</a:t>
            </a:r>
            <a:endParaRPr lang="en-US" sz="2000" dirty="0"/>
          </a:p>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3.  </a:t>
            </a:r>
            <a:r>
              <a:rPr lang="en-US" sz="2000" b="1" dirty="0">
                <a:solidFill>
                  <a:srgbClr val="000000"/>
                </a:solidFill>
                <a:latin typeface="Times New Roman" pitchFamily="34" charset="0"/>
                <a:ea typeface="Times New Roman" pitchFamily="34" charset="-122"/>
                <a:cs typeface="Times New Roman" pitchFamily="34" charset="-120"/>
              </a:rPr>
              <a:t>Prediction Module (predict.py):</a:t>
            </a:r>
            <a:r>
              <a:rPr lang="en-US" sz="2000" dirty="0">
                <a:solidFill>
                  <a:srgbClr val="000000"/>
                </a:solidFill>
                <a:latin typeface="Times New Roman" pitchFamily="34" charset="0"/>
                <a:ea typeface="Times New Roman" pitchFamily="34" charset="-122"/>
                <a:cs typeface="Times New Roman" pitchFamily="34" charset="-120"/>
              </a:rPr>
              <a:t> Console interface that asks questions and shows the risk result.</a:t>
            </a:r>
            <a:endParaRPr lang="en-US" sz="2000" dirty="0"/>
          </a:p>
          <a:p>
            <a:pPr marL="0" indent="0" algn="l">
              <a:spcAft>
                <a:spcPts val="1400"/>
              </a:spcAft>
              <a:buNone/>
            </a:pPr>
            <a:r>
              <a:rPr lang="en-US" sz="2000" dirty="0">
                <a:solidFill>
                  <a:srgbClr val="000000"/>
                </a:solidFill>
                <a:latin typeface="Times New Roman" pitchFamily="34" charset="0"/>
                <a:ea typeface="Times New Roman" pitchFamily="34" charset="-122"/>
                <a:cs typeface="Times New Roman" pitchFamily="34" charset="-120"/>
              </a:rPr>
              <a:t>4.  </a:t>
            </a:r>
            <a:r>
              <a:rPr lang="en-US" sz="2000" b="1" dirty="0">
                <a:solidFill>
                  <a:srgbClr val="000000"/>
                </a:solidFill>
                <a:latin typeface="Times New Roman" pitchFamily="34" charset="0"/>
                <a:ea typeface="Times New Roman" pitchFamily="34" charset="-122"/>
                <a:cs typeface="Times New Roman" pitchFamily="34" charset="-120"/>
              </a:rPr>
              <a:t>Saved Files:</a:t>
            </a:r>
            <a:r>
              <a:rPr lang="en-US" sz="2000" dirty="0">
                <a:solidFill>
                  <a:srgbClr val="000000"/>
                </a:solidFill>
                <a:latin typeface="Times New Roman" pitchFamily="34" charset="0"/>
                <a:ea typeface="Times New Roman" pitchFamily="34" charset="-122"/>
                <a:cs typeface="Times New Roman" pitchFamily="34" charset="-120"/>
              </a:rPr>
              <a:t> artifacts.pkl (encoders, scaler, features) and trained_models.pkl (all models).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DATASET DESIGN</a:t>
            </a:r>
            <a:endParaRPr lang="en-US" sz="1950" dirty="0"/>
          </a:p>
        </p:txBody>
      </p:sp>
      <p:sp>
        <p:nvSpPr>
          <p:cNvPr id="4" name="Text 1"/>
          <p:cNvSpPr txBox="1"/>
          <p:nvPr/>
        </p:nvSpPr>
        <p:spPr>
          <a:xfrm>
            <a:off x="731520" y="1006891"/>
            <a:ext cx="8595360" cy="6035040"/>
          </a:xfrm>
          <a:prstGeom prst="rect">
            <a:avLst/>
          </a:prstGeom>
          <a:noFill/>
          <a:ln/>
        </p:spPr>
        <p:txBody>
          <a:bodyPr wrap="square" lIns="0" tIns="0" rIns="0" bIns="0" rtlCol="0" anchor="t"/>
          <a:lstStyle/>
          <a:p>
            <a:r>
              <a:rPr lang="en-IN" sz="2000" b="1" dirty="0">
                <a:latin typeface="Times New Roman" panose="02020603050405020304" pitchFamily="18" charset="0"/>
                <a:cs typeface="Times New Roman" panose="02020603050405020304" pitchFamily="18" charset="0"/>
              </a:rPr>
              <a:t>Dataset</a:t>
            </a:r>
          </a:p>
          <a:p>
            <a:r>
              <a:rPr lang="en-IN" sz="2000" b="1" dirty="0">
                <a:latin typeface="Times New Roman" panose="02020603050405020304" pitchFamily="18" charset="0"/>
                <a:cs typeface="Times New Roman" panose="02020603050405020304" pitchFamily="18" charset="0"/>
              </a:rPr>
              <a:t>Dataset:</a:t>
            </a:r>
            <a:r>
              <a:rPr lang="en-IN" sz="2000"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loan_risk_dataset_1000_rows.csv</a:t>
            </a:r>
            <a:r>
              <a:rPr lang="en-IN" sz="2000" dirty="0">
                <a:latin typeface="Times New Roman" panose="02020603050405020304" pitchFamily="18" charset="0"/>
                <a:cs typeface="Times New Roman" panose="02020603050405020304" pitchFamily="18" charset="0"/>
              </a:rPr>
              <a:t> (1,000 records, 10 columns)</a:t>
            </a:r>
          </a:p>
          <a:p>
            <a:r>
              <a:rPr lang="en-IN" sz="2000" b="1" dirty="0">
                <a:latin typeface="Times New Roman" panose="02020603050405020304" pitchFamily="18" charset="0"/>
                <a:cs typeface="Times New Roman" panose="02020603050405020304" pitchFamily="18" charset="0"/>
              </a:rPr>
              <a:t>Target:</a:t>
            </a:r>
            <a:r>
              <a:rPr lang="en-IN" sz="2000"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Loan_Risk</a:t>
            </a:r>
            <a:r>
              <a:rPr lang="en-IN" sz="2000" dirty="0">
                <a:latin typeface="Times New Roman" panose="02020603050405020304" pitchFamily="18" charset="0"/>
                <a:cs typeface="Times New Roman" panose="02020603050405020304" pitchFamily="18" charset="0"/>
              </a:rPr>
              <a:t> (Low / High)</a:t>
            </a:r>
          </a:p>
          <a:p>
            <a:r>
              <a:rPr lang="en-IN" sz="2000" b="1" dirty="0">
                <a:latin typeface="Times New Roman" panose="02020603050405020304" pitchFamily="18" charset="0"/>
                <a:cs typeface="Times New Roman" panose="02020603050405020304" pitchFamily="18" charset="0"/>
              </a:rPr>
              <a:t>Numeric columns: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Age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Monthly_Income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Loan_Amount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Loan_Term_Months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Credit_Score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Previous_Defaults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Monthly_Debt_Payment</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Identification columns: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Loan_Application_ID</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Name</a:t>
            </a:r>
          </a:p>
          <a:p>
            <a:r>
              <a:rPr lang="en-IN" sz="2000" b="1" dirty="0">
                <a:latin typeface="Times New Roman" panose="02020603050405020304" pitchFamily="18" charset="0"/>
                <a:cs typeface="Times New Roman" panose="02020603050405020304" pitchFamily="18" charset="0"/>
              </a:rPr>
              <a:t>Target column:</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Loan_Risk</a:t>
            </a:r>
            <a:r>
              <a:rPr lang="en-IN" sz="2000" dirty="0">
                <a:latin typeface="Times New Roman" panose="02020603050405020304" pitchFamily="18" charset="0"/>
                <a:cs typeface="Times New Roman" panose="02020603050405020304" pitchFamily="18" charset="0"/>
              </a:rPr>
              <a:t> — represents the assessed loan risk of the applicant as </a:t>
            </a:r>
            <a:r>
              <a:rPr lang="en-IN" sz="2000" b="1" dirty="0">
                <a:latin typeface="Times New Roman" panose="02020603050405020304" pitchFamily="18" charset="0"/>
                <a:cs typeface="Times New Roman" panose="02020603050405020304" pitchFamily="18" charset="0"/>
              </a:rPr>
              <a:t>Low</a:t>
            </a:r>
            <a:r>
              <a:rPr lang="en-IN" sz="2000" dirty="0">
                <a:latin typeface="Times New Roman" panose="02020603050405020304" pitchFamily="18" charset="0"/>
                <a:cs typeface="Times New Roman" panose="02020603050405020304" pitchFamily="18" charset="0"/>
              </a:rPr>
              <a:t> or </a:t>
            </a:r>
            <a:r>
              <a:rPr lang="en-IN" sz="2000" b="1" dirty="0">
                <a:latin typeface="Times New Roman" panose="02020603050405020304" pitchFamily="18" charset="0"/>
                <a:cs typeface="Times New Roman" panose="02020603050405020304" pitchFamily="18" charset="0"/>
              </a:rPr>
              <a:t>High</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The dataset contains applicant and financial information that can be used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loan risk. Important factors such as income, loan amount, credit score, previous defaults, loan term, and monthly debt payment are considered for predicting the risk level of an applicant.</a:t>
            </a:r>
          </a:p>
          <a:p>
            <a:pPr marL="0" indent="0">
              <a:spcAft>
                <a:spcPts val="1400"/>
              </a:spcAft>
              <a:buNone/>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DATA PREPROCESSING</a:t>
            </a:r>
            <a:endParaRPr lang="en-US" sz="1950" dirty="0"/>
          </a:p>
        </p:txBody>
      </p:sp>
      <p:sp>
        <p:nvSpPr>
          <p:cNvPr id="4" name="Text 1"/>
          <p:cNvSpPr txBox="1"/>
          <p:nvPr/>
        </p:nvSpPr>
        <p:spPr>
          <a:xfrm>
            <a:off x="426720" y="781970"/>
            <a:ext cx="8595360" cy="6035040"/>
          </a:xfrm>
          <a:prstGeom prst="rect">
            <a:avLst/>
          </a:prstGeom>
          <a:noFill/>
          <a:ln/>
        </p:spPr>
        <p:txBody>
          <a:bodyPr wrap="square" lIns="0" tIns="0" rIns="0" bIns="0" rtlCol="0" anchor="t"/>
          <a:lstStyle/>
          <a:p>
            <a:pPr algn="just"/>
            <a:r>
              <a:rPr lang="en-IN" sz="2000" b="1" u="sng" dirty="0">
                <a:latin typeface="Times New Roman" panose="02020603050405020304" pitchFamily="18" charset="0"/>
                <a:cs typeface="Times New Roman" panose="02020603050405020304" pitchFamily="18" charset="0"/>
              </a:rPr>
              <a:t>Checking Missing Values:</a:t>
            </a:r>
            <a:endParaRPr lang="en-IN" sz="2000" u="sng"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dataset was checked for missing or null values using appropriate Pandas functions. The target column </a:t>
            </a:r>
            <a:r>
              <a:rPr lang="en-IN" dirty="0" err="1">
                <a:latin typeface="Times New Roman" panose="02020603050405020304" pitchFamily="18" charset="0"/>
                <a:cs typeface="Times New Roman" panose="02020603050405020304" pitchFamily="18" charset="0"/>
              </a:rPr>
              <a:t>Loan_Risk</a:t>
            </a:r>
            <a:r>
              <a:rPr lang="en-IN" sz="2000" dirty="0">
                <a:latin typeface="Times New Roman" panose="02020603050405020304" pitchFamily="18" charset="0"/>
                <a:cs typeface="Times New Roman" panose="02020603050405020304" pitchFamily="18" charset="0"/>
              </a:rPr>
              <a:t> was also examined to identify missing target values. Records with missing target values were removed to ensure reliable model training.</a:t>
            </a:r>
          </a:p>
          <a:p>
            <a:pPr algn="just"/>
            <a:r>
              <a:rPr lang="en-IN" sz="2000" b="1" u="sng" dirty="0">
                <a:latin typeface="Times New Roman" panose="02020603050405020304" pitchFamily="18" charset="0"/>
                <a:cs typeface="Times New Roman" panose="02020603050405020304" pitchFamily="18" charset="0"/>
              </a:rPr>
              <a:t>Removing Duplicate Records:</a:t>
            </a:r>
          </a:p>
          <a:p>
            <a:pPr algn="just"/>
            <a:r>
              <a:rPr lang="en-IN" sz="2000" dirty="0">
                <a:latin typeface="Times New Roman" panose="02020603050405020304" pitchFamily="18" charset="0"/>
                <a:cs typeface="Times New Roman" panose="02020603050405020304" pitchFamily="18" charset="0"/>
              </a:rPr>
              <a:t>Duplicate records were identified using the </a:t>
            </a:r>
            <a:r>
              <a:rPr lang="en-IN" dirty="0">
                <a:latin typeface="Times New Roman" panose="02020603050405020304" pitchFamily="18" charset="0"/>
                <a:cs typeface="Times New Roman" panose="02020603050405020304" pitchFamily="18" charset="0"/>
              </a:rPr>
              <a:t>duplicated()</a:t>
            </a:r>
            <a:r>
              <a:rPr lang="en-IN" sz="2000" dirty="0">
                <a:latin typeface="Times New Roman" panose="02020603050405020304" pitchFamily="18" charset="0"/>
                <a:cs typeface="Times New Roman" panose="02020603050405020304" pitchFamily="18" charset="0"/>
              </a:rPr>
              <a:t> function. Duplicate rows were removed to prevent repeated information from affecting the Machine Learning models.</a:t>
            </a:r>
          </a:p>
          <a:p>
            <a:pPr algn="just"/>
            <a:r>
              <a:rPr lang="en-IN" sz="2000" b="1" u="sng" dirty="0">
                <a:latin typeface="Times New Roman" panose="02020603050405020304" pitchFamily="18" charset="0"/>
                <a:cs typeface="Times New Roman" panose="02020603050405020304" pitchFamily="18" charset="0"/>
              </a:rPr>
              <a:t>Handling Missing Values:</a:t>
            </a:r>
            <a:endParaRPr lang="en-IN" sz="2000" u="sng"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Missing values generated during the DTI calculation were handled using </a:t>
            </a:r>
            <a:r>
              <a:rPr lang="en-IN" sz="2000" b="1" dirty="0">
                <a:latin typeface="Times New Roman" panose="02020603050405020304" pitchFamily="18" charset="0"/>
                <a:cs typeface="Times New Roman" panose="02020603050405020304" pitchFamily="18" charset="0"/>
              </a:rPr>
              <a:t>median imputation</a:t>
            </a:r>
            <a:r>
              <a:rPr lang="en-IN" sz="2000" dirty="0">
                <a:latin typeface="Times New Roman" panose="02020603050405020304" pitchFamily="18" charset="0"/>
                <a:cs typeface="Times New Roman" panose="02020603050405020304" pitchFamily="18" charset="0"/>
              </a:rPr>
              <a:t>. The </a:t>
            </a:r>
            <a:r>
              <a:rPr lang="en-IN" dirty="0" err="1">
                <a:latin typeface="Times New Roman" panose="02020603050405020304" pitchFamily="18" charset="0"/>
                <a:cs typeface="Times New Roman" panose="02020603050405020304" pitchFamily="18" charset="0"/>
              </a:rPr>
              <a:t>SimpleImputer</a:t>
            </a:r>
            <a:r>
              <a:rPr lang="en-IN" sz="2000" dirty="0">
                <a:latin typeface="Times New Roman" panose="02020603050405020304" pitchFamily="18" charset="0"/>
                <a:cs typeface="Times New Roman" panose="02020603050405020304" pitchFamily="18" charset="0"/>
              </a:rPr>
              <a:t> with the median strategy was applied to the training data, and the same transformation was applied to the test data.</a:t>
            </a:r>
          </a:p>
          <a:p>
            <a:pPr algn="just"/>
            <a:r>
              <a:rPr lang="en-IN" sz="2000" b="1" u="sng" dirty="0">
                <a:latin typeface="Times New Roman" panose="02020603050405020304" pitchFamily="18" charset="0"/>
                <a:cs typeface="Times New Roman" panose="02020603050405020304" pitchFamily="18" charset="0"/>
              </a:rPr>
              <a:t>Target Encoding:</a:t>
            </a:r>
            <a:endParaRPr lang="en-IN" sz="2000" u="sng"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categorical target variable </a:t>
            </a:r>
            <a:r>
              <a:rPr lang="en-IN" dirty="0" err="1">
                <a:latin typeface="Times New Roman" panose="02020603050405020304" pitchFamily="18" charset="0"/>
                <a:cs typeface="Times New Roman" panose="02020603050405020304" pitchFamily="18" charset="0"/>
              </a:rPr>
              <a:t>Loan_Risk</a:t>
            </a:r>
            <a:r>
              <a:rPr lang="en-IN" sz="2000" dirty="0">
                <a:latin typeface="Times New Roman" panose="02020603050405020304" pitchFamily="18" charset="0"/>
                <a:cs typeface="Times New Roman" panose="02020603050405020304" pitchFamily="18" charset="0"/>
              </a:rPr>
              <a:t> was converted into numerical values for Machine Learning. </a:t>
            </a:r>
            <a:r>
              <a:rPr lang="en-IN" sz="2000" b="1" dirty="0">
                <a:latin typeface="Times New Roman" panose="02020603050405020304" pitchFamily="18" charset="0"/>
                <a:cs typeface="Times New Roman" panose="02020603050405020304" pitchFamily="18" charset="0"/>
              </a:rPr>
              <a:t>Low risk was represented as 0 and High risk as 1.</a:t>
            </a:r>
          </a:p>
          <a:p>
            <a:pPr algn="just"/>
            <a:r>
              <a:rPr lang="en-IN" sz="2000" b="1" u="sng" dirty="0">
                <a:latin typeface="Times New Roman" panose="02020603050405020304" pitchFamily="18" charset="0"/>
                <a:cs typeface="Times New Roman" panose="02020603050405020304" pitchFamily="18" charset="0"/>
              </a:rPr>
              <a:t>Handling Invalid Values:</a:t>
            </a:r>
            <a:endParaRPr lang="en-IN" sz="2000" u="sng"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During feature engineering, invalid values such as zero or negative values in </a:t>
            </a:r>
            <a:r>
              <a:rPr lang="en-IN" dirty="0" err="1">
                <a:latin typeface="Times New Roman" panose="02020603050405020304" pitchFamily="18" charset="0"/>
                <a:cs typeface="Times New Roman" panose="02020603050405020304" pitchFamily="18" charset="0"/>
              </a:rPr>
              <a:t>Monthly_Income</a:t>
            </a:r>
            <a:r>
              <a:rPr lang="en-IN" sz="2000" dirty="0">
                <a:latin typeface="Times New Roman" panose="02020603050405020304" pitchFamily="18" charset="0"/>
                <a:cs typeface="Times New Roman" panose="02020603050405020304" pitchFamily="18" charset="0"/>
              </a:rPr>
              <a:t> and negative values in </a:t>
            </a:r>
            <a:r>
              <a:rPr lang="en-IN" dirty="0" err="1">
                <a:latin typeface="Times New Roman" panose="02020603050405020304" pitchFamily="18" charset="0"/>
                <a:cs typeface="Times New Roman" panose="02020603050405020304" pitchFamily="18" charset="0"/>
              </a:rPr>
              <a:t>Monthly_Debt_Payment</a:t>
            </a:r>
            <a:r>
              <a:rPr lang="en-IN" sz="2000" dirty="0">
                <a:latin typeface="Times New Roman" panose="02020603050405020304" pitchFamily="18" charset="0"/>
                <a:cs typeface="Times New Roman" panose="02020603050405020304" pitchFamily="18" charset="0"/>
              </a:rPr>
              <a:t> were identified and converted to missing values. This prevents invalid financial values from affecting further calculations.</a:t>
            </a: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spcAft>
                <a:spcPts val="1400"/>
              </a:spcAft>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E9A64E7-4DFE-BC13-9936-28E1DEE539CA}"/>
            </a:ext>
          </a:extLst>
        </p:cNvPr>
        <p:cNvGrpSpPr/>
        <p:nvPr/>
      </p:nvGrpSpPr>
      <p:grpSpPr>
        <a:xfrm>
          <a:off x="0" y="0"/>
          <a:ext cx="0" cy="0"/>
          <a:chOff x="0" y="0"/>
          <a:chExt cx="0" cy="0"/>
        </a:xfrm>
      </p:grpSpPr>
      <p:pic>
        <p:nvPicPr>
          <p:cNvPr id="2" name="Image 0" descr="logo_small.jpg">
            <a:extLst>
              <a:ext uri="{FF2B5EF4-FFF2-40B4-BE49-F238E27FC236}">
                <a16:creationId xmlns:a16="http://schemas.microsoft.com/office/drawing/2014/main" id="{55104117-CA8D-EB3F-F566-09707D79FB01}"/>
              </a:ext>
            </a:extLst>
          </p:cNvPr>
          <p:cNvPicPr>
            <a:picLocks noChangeAspect="1"/>
          </p:cNvPicPr>
          <p:nvPr/>
        </p:nvPicPr>
        <p:blipFill>
          <a:blip r:embed="rId3"/>
          <a:stretch>
            <a:fillRect/>
          </a:stretch>
        </p:blipFill>
        <p:spPr>
          <a:xfrm>
            <a:off x="274320" y="182880"/>
            <a:ext cx="1188720" cy="434340"/>
          </a:xfrm>
          <a:prstGeom prst="rect">
            <a:avLst/>
          </a:prstGeom>
        </p:spPr>
      </p:pic>
      <p:sp>
        <p:nvSpPr>
          <p:cNvPr id="3" name="Text 0">
            <a:extLst>
              <a:ext uri="{FF2B5EF4-FFF2-40B4-BE49-F238E27FC236}">
                <a16:creationId xmlns:a16="http://schemas.microsoft.com/office/drawing/2014/main" id="{D43CC057-2958-AED9-71C2-C29E360A32E4}"/>
              </a:ext>
            </a:extLst>
          </p:cNvPr>
          <p:cNvSpPr/>
          <p:nvPr/>
        </p:nvSpPr>
        <p:spPr>
          <a:xfrm>
            <a:off x="2580185" y="17145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DATA PREPROCESSING</a:t>
            </a:r>
            <a:endParaRPr lang="en-US" sz="1950" dirty="0"/>
          </a:p>
        </p:txBody>
      </p:sp>
      <p:sp>
        <p:nvSpPr>
          <p:cNvPr id="4" name="Text 1">
            <a:extLst>
              <a:ext uri="{FF2B5EF4-FFF2-40B4-BE49-F238E27FC236}">
                <a16:creationId xmlns:a16="http://schemas.microsoft.com/office/drawing/2014/main" id="{BD098E7D-E66F-8686-9EDE-EF6B6E826611}"/>
              </a:ext>
            </a:extLst>
          </p:cNvPr>
          <p:cNvSpPr txBox="1"/>
          <p:nvPr/>
        </p:nvSpPr>
        <p:spPr>
          <a:xfrm>
            <a:off x="1035323" y="3248354"/>
            <a:ext cx="8595360" cy="6035040"/>
          </a:xfrm>
          <a:prstGeom prst="rect">
            <a:avLst/>
          </a:prstGeom>
          <a:noFill/>
          <a:ln/>
        </p:spPr>
        <p:txBody>
          <a:bodyPr wrap="square" lIns="0" tIns="0" rIns="0" bIns="0" rtlCol="0" anchor="t"/>
          <a:lstStyle/>
          <a:p>
            <a:pPr algn="just">
              <a:spcAft>
                <a:spcPts val="1400"/>
              </a:spcAft>
            </a:pPr>
            <a:endParaRPr lang="en-US"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88B60E6-8E7F-55CD-4CEC-53BFB11B401E}"/>
              </a:ext>
            </a:extLst>
          </p:cNvPr>
          <p:cNvPicPr>
            <a:picLocks noChangeAspect="1"/>
          </p:cNvPicPr>
          <p:nvPr/>
        </p:nvPicPr>
        <p:blipFill>
          <a:blip r:embed="rId4"/>
          <a:stretch>
            <a:fillRect/>
          </a:stretch>
        </p:blipFill>
        <p:spPr>
          <a:xfrm>
            <a:off x="6113180" y="2007968"/>
            <a:ext cx="3175290" cy="3057525"/>
          </a:xfrm>
          <a:prstGeom prst="rect">
            <a:avLst/>
          </a:prstGeom>
        </p:spPr>
      </p:pic>
      <p:pic>
        <p:nvPicPr>
          <p:cNvPr id="8" name="Picture 7">
            <a:extLst>
              <a:ext uri="{FF2B5EF4-FFF2-40B4-BE49-F238E27FC236}">
                <a16:creationId xmlns:a16="http://schemas.microsoft.com/office/drawing/2014/main" id="{C40EE7D6-2B8A-FBB3-F4A9-C9C4B45737E6}"/>
              </a:ext>
            </a:extLst>
          </p:cNvPr>
          <p:cNvPicPr>
            <a:picLocks noChangeAspect="1"/>
          </p:cNvPicPr>
          <p:nvPr/>
        </p:nvPicPr>
        <p:blipFill>
          <a:blip r:embed="rId5"/>
          <a:stretch>
            <a:fillRect/>
          </a:stretch>
        </p:blipFill>
        <p:spPr>
          <a:xfrm>
            <a:off x="426720" y="2007968"/>
            <a:ext cx="3143250" cy="3057525"/>
          </a:xfrm>
          <a:prstGeom prst="rect">
            <a:avLst/>
          </a:prstGeom>
        </p:spPr>
      </p:pic>
      <p:sp>
        <p:nvSpPr>
          <p:cNvPr id="9" name="Arrow: Right 8">
            <a:extLst>
              <a:ext uri="{FF2B5EF4-FFF2-40B4-BE49-F238E27FC236}">
                <a16:creationId xmlns:a16="http://schemas.microsoft.com/office/drawing/2014/main" id="{2C366A36-3299-73B8-1FB9-7344208113CD}"/>
              </a:ext>
            </a:extLst>
          </p:cNvPr>
          <p:cNvSpPr/>
          <p:nvPr/>
        </p:nvSpPr>
        <p:spPr>
          <a:xfrm>
            <a:off x="4162097" y="3426372"/>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53005B4C-CF09-AA0F-E12A-E8A4416C49C3}"/>
              </a:ext>
            </a:extLst>
          </p:cNvPr>
          <p:cNvSpPr txBox="1"/>
          <p:nvPr/>
        </p:nvSpPr>
        <p:spPr>
          <a:xfrm>
            <a:off x="3857297" y="2513014"/>
            <a:ext cx="2343806" cy="646331"/>
          </a:xfrm>
          <a:prstGeom prst="rect">
            <a:avLst/>
          </a:prstGeom>
          <a:noFill/>
        </p:spPr>
        <p:txBody>
          <a:bodyPr wrap="square" rtlCol="0">
            <a:spAutoFit/>
          </a:bodyPr>
          <a:lstStyle/>
          <a:p>
            <a:r>
              <a:rPr lang="en-IN" dirty="0"/>
              <a:t>AFTER PREPROCESSING</a:t>
            </a:r>
          </a:p>
        </p:txBody>
      </p:sp>
    </p:spTree>
    <p:extLst>
      <p:ext uri="{BB962C8B-B14F-4D97-AF65-F5344CB8AC3E}">
        <p14:creationId xmlns:p14="http://schemas.microsoft.com/office/powerpoint/2010/main" val="1202728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cs typeface="Times New Roman" pitchFamily="34" charset="-120"/>
              </a:rPr>
              <a:t>Exploratory Data Analysis</a:t>
            </a:r>
            <a:endParaRPr lang="en-US" sz="1950" dirty="0"/>
          </a:p>
        </p:txBody>
      </p:sp>
      <p:sp>
        <p:nvSpPr>
          <p:cNvPr id="9" name="TextBox 8">
            <a:extLst>
              <a:ext uri="{FF2B5EF4-FFF2-40B4-BE49-F238E27FC236}">
                <a16:creationId xmlns:a16="http://schemas.microsoft.com/office/drawing/2014/main" id="{D6DCD9C9-96AA-1344-0D53-4813592A4FD8}"/>
              </a:ext>
            </a:extLst>
          </p:cNvPr>
          <p:cNvSpPr txBox="1"/>
          <p:nvPr/>
        </p:nvSpPr>
        <p:spPr>
          <a:xfrm>
            <a:off x="276947" y="1115219"/>
            <a:ext cx="9382059" cy="6247864"/>
          </a:xfrm>
          <a:prstGeom prst="rect">
            <a:avLst/>
          </a:prstGeom>
          <a:noFill/>
        </p:spPr>
        <p:txBody>
          <a:bodyPr wrap="square">
            <a:spAutoFit/>
          </a:bodyPr>
          <a:lstStyle/>
          <a:p>
            <a:pPr marL="285750" indent="-28575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Exploratory Data Analysis (EDA)</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EDA was performed to understand the structure and characteristics of the loan dataset.</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dataset contains </a:t>
            </a:r>
            <a:r>
              <a:rPr lang="en-IN" sz="2000" b="1" dirty="0">
                <a:latin typeface="Times New Roman" panose="02020603050405020304" pitchFamily="18" charset="0"/>
                <a:cs typeface="Times New Roman" panose="02020603050405020304" pitchFamily="18" charset="0"/>
              </a:rPr>
              <a:t>1,000 records and 10 columns</a:t>
            </a:r>
            <a:r>
              <a:rPr lang="en-IN" sz="2000" dirty="0">
                <a:latin typeface="Times New Roman" panose="02020603050405020304" pitchFamily="18" charset="0"/>
                <a:cs typeface="Times New Roman" panose="02020603050405020304" pitchFamily="18" charset="0"/>
              </a:rPr>
              <a:t>.</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distribution of the </a:t>
            </a:r>
            <a:r>
              <a:rPr lang="en-IN" sz="2000" b="1" dirty="0" err="1">
                <a:latin typeface="Times New Roman" panose="02020603050405020304" pitchFamily="18" charset="0"/>
                <a:cs typeface="Times New Roman" panose="02020603050405020304" pitchFamily="18" charset="0"/>
              </a:rPr>
              <a:t>Loan_Risk</a:t>
            </a:r>
            <a:r>
              <a:rPr lang="en-IN" sz="2000" dirty="0">
                <a:latin typeface="Times New Roman" panose="02020603050405020304" pitchFamily="18" charset="0"/>
                <a:cs typeface="Times New Roman" panose="02020603050405020304" pitchFamily="18" charset="0"/>
              </a:rPr>
              <a:t> target variable was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Numerical features such as </a:t>
            </a:r>
            <a:r>
              <a:rPr lang="en-IN" sz="2000" b="1" dirty="0">
                <a:latin typeface="Times New Roman" panose="02020603050405020304" pitchFamily="18" charset="0"/>
                <a:cs typeface="Times New Roman" panose="02020603050405020304" pitchFamily="18" charset="0"/>
              </a:rPr>
              <a:t>Age, </a:t>
            </a:r>
            <a:r>
              <a:rPr lang="en-IN" sz="2000" b="1" dirty="0" err="1">
                <a:latin typeface="Times New Roman" panose="02020603050405020304" pitchFamily="18" charset="0"/>
                <a:cs typeface="Times New Roman" panose="02020603050405020304" pitchFamily="18" charset="0"/>
              </a:rPr>
              <a:t>Monthly_Income</a:t>
            </a:r>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Loan_Amount</a:t>
            </a:r>
            <a:r>
              <a:rPr lang="en-IN" sz="2000" b="1" dirty="0">
                <a:latin typeface="Times New Roman" panose="02020603050405020304" pitchFamily="18" charset="0"/>
                <a:cs typeface="Times New Roman" panose="02020603050405020304" pitchFamily="18" charset="0"/>
              </a:rPr>
              <a:t>, and </a:t>
            </a:r>
            <a:r>
              <a:rPr lang="en-IN" sz="2000" b="1" dirty="0" err="1">
                <a:latin typeface="Times New Roman" panose="02020603050405020304" pitchFamily="18" charset="0"/>
                <a:cs typeface="Times New Roman" panose="02020603050405020304" pitchFamily="18" charset="0"/>
              </a:rPr>
              <a:t>Credit_Score</a:t>
            </a:r>
            <a:r>
              <a:rPr lang="en-IN" sz="2000" dirty="0">
                <a:latin typeface="Times New Roman" panose="02020603050405020304" pitchFamily="18" charset="0"/>
                <a:cs typeface="Times New Roman" panose="02020603050405020304" pitchFamily="18" charset="0"/>
              </a:rPr>
              <a:t> were examined.</a:t>
            </a:r>
          </a:p>
          <a:p>
            <a:pPr marL="342900" lvl="0" indent="-342900" algn="just">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Loan_Term_Months</a:t>
            </a:r>
            <a:r>
              <a:rPr lang="en-IN" sz="2000" dirty="0">
                <a:latin typeface="Times New Roman" panose="02020603050405020304" pitchFamily="18" charset="0"/>
                <a:cs typeface="Times New Roman" panose="02020603050405020304" pitchFamily="18" charset="0"/>
              </a:rPr>
              <a:t> and </a:t>
            </a:r>
            <a:r>
              <a:rPr lang="en-IN" sz="2000" b="1" dirty="0" err="1">
                <a:latin typeface="Times New Roman" panose="02020603050405020304" pitchFamily="18" charset="0"/>
                <a:cs typeface="Times New Roman" panose="02020603050405020304" pitchFamily="18" charset="0"/>
              </a:rPr>
              <a:t>Monthly_Debt_Payment</a:t>
            </a:r>
            <a:r>
              <a:rPr lang="en-IN" sz="2000" dirty="0">
                <a:latin typeface="Times New Roman" panose="02020603050405020304" pitchFamily="18" charset="0"/>
                <a:cs typeface="Times New Roman" panose="02020603050405020304" pitchFamily="18" charset="0"/>
              </a:rPr>
              <a:t> were also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to understand their distributions.</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Statistical summaries such as mean, minimum, maximum, and standard deviation were obtained.</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Histograms were used to visualize the distribution of numerical features.</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Box plots were used to identify possible outliers in the numerical variables.</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relationship between important financial features and </a:t>
            </a:r>
            <a:r>
              <a:rPr lang="en-IN" sz="2000" b="1" dirty="0" err="1">
                <a:latin typeface="Times New Roman" panose="02020603050405020304" pitchFamily="18" charset="0"/>
                <a:cs typeface="Times New Roman" panose="02020603050405020304" pitchFamily="18" charset="0"/>
              </a:rPr>
              <a:t>Loan_Risk</a:t>
            </a:r>
            <a:r>
              <a:rPr lang="en-IN" sz="2000" dirty="0">
                <a:latin typeface="Times New Roman" panose="02020603050405020304" pitchFamily="18" charset="0"/>
                <a:cs typeface="Times New Roman" panose="02020603050405020304" pitchFamily="18" charset="0"/>
              </a:rPr>
              <a:t> was explored.</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Correlation analysis was performed to identify relationships between numerical features.</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Visualizations were used to identify important patterns and trends in the dataset.</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EDA helped in understanding the factors that may influence the loan risk of an applicant.</a:t>
            </a:r>
          </a:p>
          <a:p>
            <a:pPr marL="342900" lvl="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findings from EDA were used to support further </a:t>
            </a:r>
            <a:r>
              <a:rPr lang="en-IN" sz="2000" b="1" dirty="0">
                <a:latin typeface="Times New Roman" panose="02020603050405020304" pitchFamily="18" charset="0"/>
                <a:cs typeface="Times New Roman" panose="02020603050405020304" pitchFamily="18" charset="0"/>
              </a:rPr>
              <a:t>feature engineering and Machine Learning model development</a:t>
            </a:r>
            <a:r>
              <a:rPr lang="en-IN" sz="20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4173B7E-3180-A53E-C8F9-4C6453CF5495}"/>
            </a:ext>
          </a:extLst>
        </p:cNvPr>
        <p:cNvGrpSpPr/>
        <p:nvPr/>
      </p:nvGrpSpPr>
      <p:grpSpPr>
        <a:xfrm>
          <a:off x="0" y="0"/>
          <a:ext cx="0" cy="0"/>
          <a:chOff x="0" y="0"/>
          <a:chExt cx="0" cy="0"/>
        </a:xfrm>
      </p:grpSpPr>
      <p:pic>
        <p:nvPicPr>
          <p:cNvPr id="2" name="Image 0" descr="logo_small.jpg">
            <a:extLst>
              <a:ext uri="{FF2B5EF4-FFF2-40B4-BE49-F238E27FC236}">
                <a16:creationId xmlns:a16="http://schemas.microsoft.com/office/drawing/2014/main" id="{59FCCDB1-7F24-67A8-D092-803CCD00DB7E}"/>
              </a:ext>
            </a:extLst>
          </p:cNvPr>
          <p:cNvPicPr>
            <a:picLocks noChangeAspect="1"/>
          </p:cNvPicPr>
          <p:nvPr/>
        </p:nvPicPr>
        <p:blipFill>
          <a:blip r:embed="rId3"/>
          <a:stretch>
            <a:fillRect/>
          </a:stretch>
        </p:blipFill>
        <p:spPr>
          <a:xfrm>
            <a:off x="274320" y="182880"/>
            <a:ext cx="1188720" cy="434340"/>
          </a:xfrm>
          <a:prstGeom prst="rect">
            <a:avLst/>
          </a:prstGeom>
        </p:spPr>
      </p:pic>
      <p:sp>
        <p:nvSpPr>
          <p:cNvPr id="3" name="Text 0">
            <a:extLst>
              <a:ext uri="{FF2B5EF4-FFF2-40B4-BE49-F238E27FC236}">
                <a16:creationId xmlns:a16="http://schemas.microsoft.com/office/drawing/2014/main" id="{456175FB-B65C-376B-5618-8F370968C728}"/>
              </a:ext>
            </a:extLst>
          </p:cNvPr>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cs typeface="Times New Roman" pitchFamily="34" charset="-120"/>
              </a:rPr>
              <a:t>Exploratory Data Analysis</a:t>
            </a:r>
            <a:endParaRPr lang="en-US" sz="1950" dirty="0"/>
          </a:p>
        </p:txBody>
      </p:sp>
      <p:pic>
        <p:nvPicPr>
          <p:cNvPr id="5" name="Picture 4">
            <a:extLst>
              <a:ext uri="{FF2B5EF4-FFF2-40B4-BE49-F238E27FC236}">
                <a16:creationId xmlns:a16="http://schemas.microsoft.com/office/drawing/2014/main" id="{9A941C98-1A41-5BC5-45C8-43E3F507C005}"/>
              </a:ext>
            </a:extLst>
          </p:cNvPr>
          <p:cNvPicPr>
            <a:picLocks noChangeAspect="1"/>
          </p:cNvPicPr>
          <p:nvPr/>
        </p:nvPicPr>
        <p:blipFill>
          <a:blip r:embed="rId4"/>
          <a:stretch>
            <a:fillRect/>
          </a:stretch>
        </p:blipFill>
        <p:spPr>
          <a:xfrm>
            <a:off x="5237107" y="1144122"/>
            <a:ext cx="4190672" cy="2682303"/>
          </a:xfrm>
          <a:prstGeom prst="rect">
            <a:avLst/>
          </a:prstGeom>
        </p:spPr>
      </p:pic>
      <p:pic>
        <p:nvPicPr>
          <p:cNvPr id="7" name="Picture 6">
            <a:extLst>
              <a:ext uri="{FF2B5EF4-FFF2-40B4-BE49-F238E27FC236}">
                <a16:creationId xmlns:a16="http://schemas.microsoft.com/office/drawing/2014/main" id="{1BBC3901-367E-6BA4-832A-938C19BD2704}"/>
              </a:ext>
            </a:extLst>
          </p:cNvPr>
          <p:cNvPicPr>
            <a:picLocks noChangeAspect="1"/>
          </p:cNvPicPr>
          <p:nvPr/>
        </p:nvPicPr>
        <p:blipFill>
          <a:blip r:embed="rId5"/>
          <a:stretch>
            <a:fillRect/>
          </a:stretch>
        </p:blipFill>
        <p:spPr>
          <a:xfrm>
            <a:off x="5249999" y="3945976"/>
            <a:ext cx="4409007" cy="2799257"/>
          </a:xfrm>
          <a:prstGeom prst="rect">
            <a:avLst/>
          </a:prstGeom>
        </p:spPr>
      </p:pic>
      <p:pic>
        <p:nvPicPr>
          <p:cNvPr id="10" name="Picture 9">
            <a:extLst>
              <a:ext uri="{FF2B5EF4-FFF2-40B4-BE49-F238E27FC236}">
                <a16:creationId xmlns:a16="http://schemas.microsoft.com/office/drawing/2014/main" id="{2C798FA6-0504-A6A0-74EF-F4C0E17EB078}"/>
              </a:ext>
            </a:extLst>
          </p:cNvPr>
          <p:cNvPicPr>
            <a:picLocks noChangeAspect="1"/>
          </p:cNvPicPr>
          <p:nvPr/>
        </p:nvPicPr>
        <p:blipFill>
          <a:blip r:embed="rId6"/>
          <a:stretch>
            <a:fillRect/>
          </a:stretch>
        </p:blipFill>
        <p:spPr>
          <a:xfrm>
            <a:off x="510900" y="4182006"/>
            <a:ext cx="4035809" cy="2555795"/>
          </a:xfrm>
          <a:prstGeom prst="rect">
            <a:avLst/>
          </a:prstGeom>
        </p:spPr>
      </p:pic>
      <p:pic>
        <p:nvPicPr>
          <p:cNvPr id="12" name="Picture 11">
            <a:extLst>
              <a:ext uri="{FF2B5EF4-FFF2-40B4-BE49-F238E27FC236}">
                <a16:creationId xmlns:a16="http://schemas.microsoft.com/office/drawing/2014/main" id="{072CF289-0C79-0212-236A-059ED2293F09}"/>
              </a:ext>
            </a:extLst>
          </p:cNvPr>
          <p:cNvPicPr>
            <a:picLocks noChangeAspect="1"/>
          </p:cNvPicPr>
          <p:nvPr/>
        </p:nvPicPr>
        <p:blipFill>
          <a:blip r:embed="rId7"/>
          <a:stretch>
            <a:fillRect/>
          </a:stretch>
        </p:blipFill>
        <p:spPr>
          <a:xfrm>
            <a:off x="961698" y="1093738"/>
            <a:ext cx="3746937" cy="2973968"/>
          </a:xfrm>
          <a:prstGeom prst="rect">
            <a:avLst/>
          </a:prstGeom>
        </p:spPr>
      </p:pic>
      <p:sp>
        <p:nvSpPr>
          <p:cNvPr id="13" name="TextBox 12">
            <a:extLst>
              <a:ext uri="{FF2B5EF4-FFF2-40B4-BE49-F238E27FC236}">
                <a16:creationId xmlns:a16="http://schemas.microsoft.com/office/drawing/2014/main" id="{C801F028-D5A0-DE8B-0486-65CCCD1666C5}"/>
              </a:ext>
            </a:extLst>
          </p:cNvPr>
          <p:cNvSpPr txBox="1"/>
          <p:nvPr/>
        </p:nvSpPr>
        <p:spPr>
          <a:xfrm>
            <a:off x="1330751" y="6989379"/>
            <a:ext cx="7502695" cy="369332"/>
          </a:xfrm>
          <a:prstGeom prst="rect">
            <a:avLst/>
          </a:prstGeom>
          <a:noFill/>
        </p:spPr>
        <p:txBody>
          <a:bodyPr wrap="none" rtlCol="0">
            <a:spAutoFit/>
          </a:bodyPr>
          <a:lstStyle/>
          <a:p>
            <a:r>
              <a:rPr lang="en-IN" dirty="0"/>
              <a:t>THESE ARE SOME EDA DIAGRAMS WHICH WE IMPLEMENTED IN OUR PROJECT</a:t>
            </a:r>
          </a:p>
        </p:txBody>
      </p:sp>
    </p:spTree>
    <p:extLst>
      <p:ext uri="{BB962C8B-B14F-4D97-AF65-F5344CB8AC3E}">
        <p14:creationId xmlns:p14="http://schemas.microsoft.com/office/powerpoint/2010/main" val="584235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6AFA16E-FC1A-6325-2545-3F889EE857EE}"/>
            </a:ext>
          </a:extLst>
        </p:cNvPr>
        <p:cNvGrpSpPr/>
        <p:nvPr/>
      </p:nvGrpSpPr>
      <p:grpSpPr>
        <a:xfrm>
          <a:off x="0" y="0"/>
          <a:ext cx="0" cy="0"/>
          <a:chOff x="0" y="0"/>
          <a:chExt cx="0" cy="0"/>
        </a:xfrm>
      </p:grpSpPr>
      <p:pic>
        <p:nvPicPr>
          <p:cNvPr id="2" name="Image 0" descr="logo_small.jpg">
            <a:extLst>
              <a:ext uri="{FF2B5EF4-FFF2-40B4-BE49-F238E27FC236}">
                <a16:creationId xmlns:a16="http://schemas.microsoft.com/office/drawing/2014/main" id="{F096986D-011F-CF77-F0A7-FFCA9FDEFFFA}"/>
              </a:ext>
            </a:extLst>
          </p:cNvPr>
          <p:cNvPicPr>
            <a:picLocks noChangeAspect="1"/>
          </p:cNvPicPr>
          <p:nvPr/>
        </p:nvPicPr>
        <p:blipFill>
          <a:blip r:embed="rId3"/>
          <a:stretch>
            <a:fillRect/>
          </a:stretch>
        </p:blipFill>
        <p:spPr>
          <a:xfrm>
            <a:off x="274320" y="182880"/>
            <a:ext cx="1188720" cy="434340"/>
          </a:xfrm>
          <a:prstGeom prst="rect">
            <a:avLst/>
          </a:prstGeom>
        </p:spPr>
      </p:pic>
      <p:sp>
        <p:nvSpPr>
          <p:cNvPr id="3" name="Text 0">
            <a:extLst>
              <a:ext uri="{FF2B5EF4-FFF2-40B4-BE49-F238E27FC236}">
                <a16:creationId xmlns:a16="http://schemas.microsoft.com/office/drawing/2014/main" id="{1240B32A-6E95-5091-A666-583325DCB6F1}"/>
              </a:ext>
            </a:extLst>
          </p:cNvPr>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FEATURE SELECTION</a:t>
            </a:r>
            <a:endParaRPr lang="en-US" sz="1950" dirty="0"/>
          </a:p>
        </p:txBody>
      </p:sp>
      <p:sp>
        <p:nvSpPr>
          <p:cNvPr id="5" name="Text 2">
            <a:extLst>
              <a:ext uri="{FF2B5EF4-FFF2-40B4-BE49-F238E27FC236}">
                <a16:creationId xmlns:a16="http://schemas.microsoft.com/office/drawing/2014/main" id="{06B5D0B1-CA6C-59AF-C48D-063E414AA5FD}"/>
              </a:ext>
            </a:extLst>
          </p:cNvPr>
          <p:cNvSpPr txBox="1"/>
          <p:nvPr/>
        </p:nvSpPr>
        <p:spPr>
          <a:xfrm>
            <a:off x="1097280" y="3017520"/>
            <a:ext cx="3840480" cy="2743200"/>
          </a:xfrm>
          <a:prstGeom prst="rect">
            <a:avLst/>
          </a:prstGeom>
          <a:noFill/>
          <a:ln/>
        </p:spPr>
        <p:txBody>
          <a:bodyPr wrap="square" lIns="0" tIns="0" rIns="0" bIns="0" rtlCol="0" anchor="t"/>
          <a:lstStyle/>
          <a:p>
            <a:pPr marL="342900" indent="-342900">
              <a:spcAft>
                <a:spcPts val="1000"/>
              </a:spcAft>
              <a:buSzPct val="100000"/>
              <a:buFont typeface="+mj-lt"/>
              <a:buAutoNum type="arabicPeriod"/>
            </a:pPr>
            <a:endParaRPr lang="en-US" sz="2000" dirty="0"/>
          </a:p>
        </p:txBody>
      </p:sp>
      <p:sp>
        <p:nvSpPr>
          <p:cNvPr id="9" name="TextBox 8">
            <a:extLst>
              <a:ext uri="{FF2B5EF4-FFF2-40B4-BE49-F238E27FC236}">
                <a16:creationId xmlns:a16="http://schemas.microsoft.com/office/drawing/2014/main" id="{8F658E98-67C4-754C-05BD-3ECCEFCA6213}"/>
              </a:ext>
            </a:extLst>
          </p:cNvPr>
          <p:cNvSpPr txBox="1"/>
          <p:nvPr/>
        </p:nvSpPr>
        <p:spPr>
          <a:xfrm>
            <a:off x="274320" y="851955"/>
            <a:ext cx="4754880" cy="7017306"/>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Feature Selection</a:t>
            </a:r>
          </a:p>
          <a:p>
            <a:pPr>
              <a:buNone/>
            </a:pPr>
            <a:r>
              <a:rPr lang="en-IN" dirty="0">
                <a:latin typeface="Times New Roman" panose="02020603050405020304" pitchFamily="18" charset="0"/>
                <a:cs typeface="Times New Roman" panose="02020603050405020304" pitchFamily="18" charset="0"/>
              </a:rPr>
              <a:t>After performing EDA, the important features required for loan risk prediction were selected based on their relevance to the applicant's financial condition and loan details.</a:t>
            </a:r>
          </a:p>
          <a:p>
            <a:pPr>
              <a:buNone/>
            </a:pPr>
            <a:r>
              <a:rPr lang="en-IN" dirty="0">
                <a:latin typeface="Times New Roman" panose="02020603050405020304" pitchFamily="18" charset="0"/>
                <a:cs typeface="Times New Roman" panose="02020603050405020304" pitchFamily="18" charset="0"/>
              </a:rPr>
              <a:t>The following </a:t>
            </a:r>
            <a:r>
              <a:rPr lang="en-IN" b="1" dirty="0">
                <a:latin typeface="Times New Roman" panose="02020603050405020304" pitchFamily="18" charset="0"/>
                <a:cs typeface="Times New Roman" panose="02020603050405020304" pitchFamily="18" charset="0"/>
              </a:rPr>
              <a:t>7 features</a:t>
            </a:r>
            <a:r>
              <a:rPr lang="en-IN" dirty="0">
                <a:latin typeface="Times New Roman" panose="02020603050405020304" pitchFamily="18" charset="0"/>
                <a:cs typeface="Times New Roman" panose="02020603050405020304" pitchFamily="18" charset="0"/>
              </a:rPr>
              <a:t> were initially selected:</a:t>
            </a:r>
          </a:p>
          <a:p>
            <a:pPr>
              <a:buNone/>
            </a:pPr>
            <a:r>
              <a:rPr lang="en-IN" dirty="0">
                <a:latin typeface="Times New Roman" panose="02020603050405020304" pitchFamily="18" charset="0"/>
                <a:cs typeface="Times New Roman" panose="02020603050405020304" pitchFamily="18" charset="0"/>
              </a:rPr>
              <a:t>• Age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Monthly_Income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Loan_Amount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Loan_Term_Months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Credit_Score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Previous_Defaults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Monthly_Debt_Payment</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These features were used as the initial input variables for the Machine Learning models.</a:t>
            </a:r>
          </a:p>
          <a:p>
            <a:pPr>
              <a:buNone/>
            </a:pPr>
            <a:r>
              <a:rPr lang="en-IN" b="1" dirty="0">
                <a:latin typeface="Times New Roman" panose="02020603050405020304" pitchFamily="18" charset="0"/>
                <a:cs typeface="Times New Roman" panose="02020603050405020304" pitchFamily="18" charset="0"/>
              </a:rPr>
              <a:t>Feature Engineering – DTI</a:t>
            </a:r>
          </a:p>
          <a:p>
            <a:r>
              <a:rPr lang="en-IN" dirty="0">
                <a:latin typeface="Times New Roman" panose="02020603050405020304" pitchFamily="18" charset="0"/>
                <a:cs typeface="Times New Roman" panose="02020603050405020304" pitchFamily="18" charset="0"/>
              </a:rPr>
              <a:t>After feature selection, a new feature called </a:t>
            </a:r>
            <a:r>
              <a:rPr lang="en-IN" b="1" dirty="0">
                <a:latin typeface="Times New Roman" panose="02020603050405020304" pitchFamily="18" charset="0"/>
                <a:cs typeface="Times New Roman" panose="02020603050405020304" pitchFamily="18" charset="0"/>
              </a:rPr>
              <a:t>Debt-to-Income Ratio (DTI)</a:t>
            </a:r>
            <a:r>
              <a:rPr lang="en-IN" dirty="0">
                <a:latin typeface="Times New Roman" panose="02020603050405020304" pitchFamily="18" charset="0"/>
                <a:cs typeface="Times New Roman" panose="02020603050405020304" pitchFamily="18" charset="0"/>
              </a:rPr>
              <a:t> was created. DTI represents the relationship between an applicant's monthly debt payment and monthly income.</a:t>
            </a:r>
            <a:r>
              <a:rPr lang="en-IN" dirty="0"/>
              <a:t> The DTI feature provides additional information about the applicant's financial burden. After creating DTI, it was added to the selected features.</a:t>
            </a:r>
          </a:p>
          <a:p>
            <a:pPr>
              <a:buNone/>
            </a:pPr>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D300A8E-F712-6C4F-24A4-65A5E5251407}"/>
              </a:ext>
            </a:extLst>
          </p:cNvPr>
          <p:cNvPicPr>
            <a:picLocks noChangeAspect="1"/>
          </p:cNvPicPr>
          <p:nvPr/>
        </p:nvPicPr>
        <p:blipFill>
          <a:blip r:embed="rId4"/>
          <a:stretch>
            <a:fillRect/>
          </a:stretch>
        </p:blipFill>
        <p:spPr>
          <a:xfrm>
            <a:off x="4882054" y="2666851"/>
            <a:ext cx="5029200" cy="2041783"/>
          </a:xfrm>
          <a:prstGeom prst="rect">
            <a:avLst/>
          </a:prstGeom>
        </p:spPr>
      </p:pic>
    </p:spTree>
    <p:extLst>
      <p:ext uri="{BB962C8B-B14F-4D97-AF65-F5344CB8AC3E}">
        <p14:creationId xmlns:p14="http://schemas.microsoft.com/office/powerpoint/2010/main" val="2017755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err="1">
                <a:solidFill>
                  <a:srgbClr val="FFFFFF"/>
                </a:solidFill>
                <a:latin typeface="Times New Roman" pitchFamily="34" charset="0"/>
                <a:cs typeface="Times New Roman" pitchFamily="34" charset="-120"/>
              </a:rPr>
              <a:t>TEST,TRAIN</a:t>
            </a:r>
            <a:r>
              <a:rPr lang="en-US" sz="1950" b="1" dirty="0">
                <a:solidFill>
                  <a:srgbClr val="FFFFFF"/>
                </a:solidFill>
                <a:latin typeface="Times New Roman" pitchFamily="34" charset="0"/>
                <a:cs typeface="Times New Roman" pitchFamily="34" charset="-120"/>
              </a:rPr>
              <a:t> AND SMOTE ENGINEERING</a:t>
            </a:r>
            <a:endParaRPr lang="en-US" sz="1950" dirty="0"/>
          </a:p>
        </p:txBody>
      </p:sp>
      <p:sp>
        <p:nvSpPr>
          <p:cNvPr id="7" name="TextBox 6">
            <a:extLst>
              <a:ext uri="{FF2B5EF4-FFF2-40B4-BE49-F238E27FC236}">
                <a16:creationId xmlns:a16="http://schemas.microsoft.com/office/drawing/2014/main" id="{380D02D1-2DFA-4340-6F4D-D39E0ADBE82B}"/>
              </a:ext>
            </a:extLst>
          </p:cNvPr>
          <p:cNvSpPr txBox="1"/>
          <p:nvPr/>
        </p:nvSpPr>
        <p:spPr>
          <a:xfrm>
            <a:off x="274320" y="995369"/>
            <a:ext cx="5029200" cy="6186309"/>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Train-Test Split &amp; SMOTE</a:t>
            </a:r>
          </a:p>
          <a:p>
            <a:pPr>
              <a:buNone/>
            </a:pPr>
            <a:r>
              <a:rPr lang="en-IN" dirty="0">
                <a:latin typeface="Times New Roman" panose="02020603050405020304" pitchFamily="18" charset="0"/>
                <a:cs typeface="Times New Roman" panose="02020603050405020304" pitchFamily="18" charset="0"/>
              </a:rPr>
              <a:t>• The selected </a:t>
            </a:r>
            <a:r>
              <a:rPr lang="en-IN" b="1" dirty="0">
                <a:latin typeface="Times New Roman" panose="02020603050405020304" pitchFamily="18" charset="0"/>
                <a:cs typeface="Times New Roman" panose="02020603050405020304" pitchFamily="18" charset="0"/>
              </a:rPr>
              <a:t>8 features</a:t>
            </a:r>
            <a:r>
              <a:rPr lang="en-IN" dirty="0">
                <a:latin typeface="Times New Roman" panose="02020603050405020304" pitchFamily="18" charset="0"/>
                <a:cs typeface="Times New Roman" panose="02020603050405020304" pitchFamily="18" charset="0"/>
              </a:rPr>
              <a:t> were separated into input features (X) and the target variable (</a:t>
            </a:r>
            <a:r>
              <a:rPr lang="en-IN" dirty="0" err="1">
                <a:latin typeface="Times New Roman" panose="02020603050405020304" pitchFamily="18" charset="0"/>
                <a:cs typeface="Times New Roman" panose="02020603050405020304" pitchFamily="18" charset="0"/>
              </a:rPr>
              <a:t>Loan_Risk</a:t>
            </a:r>
            <a:r>
              <a:rPr lang="en-IN" dirty="0">
                <a:latin typeface="Times New Roman" panose="02020603050405020304" pitchFamily="18" charset="0"/>
                <a:cs typeface="Times New Roman" panose="02020603050405020304" pitchFamily="18" charset="0"/>
              </a:rPr>
              <a:t>).</a:t>
            </a:r>
          </a:p>
          <a:p>
            <a:pPr>
              <a:buNone/>
            </a:pPr>
            <a:r>
              <a:rPr lang="en-IN" dirty="0">
                <a:latin typeface="Times New Roman" panose="02020603050405020304" pitchFamily="18" charset="0"/>
                <a:cs typeface="Times New Roman" panose="02020603050405020304" pitchFamily="18" charset="0"/>
              </a:rPr>
              <a:t>• The target values were converted into numerical form: </a:t>
            </a:r>
            <a:r>
              <a:rPr lang="en-IN" b="1" dirty="0">
                <a:latin typeface="Times New Roman" panose="02020603050405020304" pitchFamily="18" charset="0"/>
                <a:cs typeface="Times New Roman" panose="02020603050405020304" pitchFamily="18" charset="0"/>
              </a:rPr>
              <a:t>Low = 0</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High = 1</a:t>
            </a:r>
            <a:r>
              <a:rPr lang="en-IN" dirty="0">
                <a:latin typeface="Times New Roman" panose="02020603050405020304" pitchFamily="18" charset="0"/>
                <a:cs typeface="Times New Roman" panose="02020603050405020304" pitchFamily="18" charset="0"/>
              </a:rPr>
              <a:t>.</a:t>
            </a:r>
          </a:p>
          <a:p>
            <a:pPr>
              <a:buNone/>
            </a:pPr>
            <a:r>
              <a:rPr lang="en-IN" dirty="0">
                <a:latin typeface="Times New Roman" panose="02020603050405020304" pitchFamily="18" charset="0"/>
                <a:cs typeface="Times New Roman" panose="02020603050405020304" pitchFamily="18" charset="0"/>
              </a:rPr>
              <a:t>• The dataset was divided into </a:t>
            </a:r>
            <a:r>
              <a:rPr lang="en-IN" b="1" dirty="0">
                <a:latin typeface="Times New Roman" panose="02020603050405020304" pitchFamily="18" charset="0"/>
                <a:cs typeface="Times New Roman" panose="02020603050405020304" pitchFamily="18" charset="0"/>
              </a:rPr>
              <a:t>80% training data and 20% testing data</a:t>
            </a:r>
            <a:r>
              <a:rPr lang="en-IN" dirty="0">
                <a:latin typeface="Times New Roman" panose="02020603050405020304" pitchFamily="18" charset="0"/>
                <a:cs typeface="Times New Roman" panose="02020603050405020304" pitchFamily="18" charset="0"/>
              </a:rPr>
              <a:t>.</a:t>
            </a:r>
          </a:p>
          <a:p>
            <a:pPr>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Stratified splitting</a:t>
            </a:r>
            <a:r>
              <a:rPr lang="en-IN" dirty="0">
                <a:latin typeface="Times New Roman" panose="02020603050405020304" pitchFamily="18" charset="0"/>
                <a:cs typeface="Times New Roman" panose="02020603050405020304" pitchFamily="18" charset="0"/>
              </a:rPr>
              <a:t> was used to maintain the proportion of Low and High risk classes in both datasets.</a:t>
            </a:r>
          </a:p>
          <a:p>
            <a:pPr>
              <a:buNone/>
            </a:pPr>
            <a:r>
              <a:rPr lang="en-IN" dirty="0">
                <a:latin typeface="Times New Roman" panose="02020603050405020304" pitchFamily="18" charset="0"/>
                <a:cs typeface="Times New Roman" panose="02020603050405020304" pitchFamily="18" charset="0"/>
              </a:rPr>
              <a:t>• Missing values were handled using </a:t>
            </a:r>
            <a:r>
              <a:rPr lang="en-IN" b="1" dirty="0">
                <a:latin typeface="Times New Roman" panose="02020603050405020304" pitchFamily="18" charset="0"/>
                <a:cs typeface="Times New Roman" panose="02020603050405020304" pitchFamily="18" charset="0"/>
              </a:rPr>
              <a:t>median imputation</a:t>
            </a:r>
            <a:r>
              <a:rPr lang="en-IN" dirty="0">
                <a:latin typeface="Times New Roman" panose="02020603050405020304" pitchFamily="18" charset="0"/>
                <a:cs typeface="Times New Roman" panose="02020603050405020304" pitchFamily="18" charset="0"/>
              </a:rPr>
              <a:t> after the train-test split.</a:t>
            </a:r>
          </a:p>
          <a:p>
            <a:pPr>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SMOTE (Synthetic Minority Over-sampling Technique)</a:t>
            </a:r>
            <a:r>
              <a:rPr lang="en-IN" dirty="0">
                <a:latin typeface="Times New Roman" panose="02020603050405020304" pitchFamily="18" charset="0"/>
                <a:cs typeface="Times New Roman" panose="02020603050405020304" pitchFamily="18" charset="0"/>
              </a:rPr>
              <a:t> was applied to the training data.</a:t>
            </a:r>
          </a:p>
          <a:p>
            <a:pPr>
              <a:buNone/>
            </a:pPr>
            <a:r>
              <a:rPr lang="en-IN" dirty="0">
                <a:latin typeface="Times New Roman" panose="02020603050405020304" pitchFamily="18" charset="0"/>
                <a:cs typeface="Times New Roman" panose="02020603050405020304" pitchFamily="18" charset="0"/>
              </a:rPr>
              <a:t>• SMOTE generated synthetic samples for the minority class and balanced the training data.</a:t>
            </a:r>
          </a:p>
          <a:p>
            <a:pPr>
              <a:buNone/>
            </a:pPr>
            <a:r>
              <a:rPr lang="en-IN" dirty="0">
                <a:latin typeface="Times New Roman" panose="02020603050405020304" pitchFamily="18" charset="0"/>
                <a:cs typeface="Times New Roman" panose="02020603050405020304" pitchFamily="18" charset="0"/>
              </a:rPr>
              <a:t>• SMOTE was applied </a:t>
            </a:r>
            <a:r>
              <a:rPr lang="en-IN" b="1" dirty="0">
                <a:latin typeface="Times New Roman" panose="02020603050405020304" pitchFamily="18" charset="0"/>
                <a:cs typeface="Times New Roman" panose="02020603050405020304" pitchFamily="18" charset="0"/>
              </a:rPr>
              <a:t>only to the training data</a:t>
            </a:r>
            <a:r>
              <a:rPr lang="en-IN" dirty="0">
                <a:latin typeface="Times New Roman" panose="02020603050405020304" pitchFamily="18" charset="0"/>
                <a:cs typeface="Times New Roman" panose="02020603050405020304" pitchFamily="18" charset="0"/>
              </a:rPr>
              <a:t>, while the test data remained unchanged.</a:t>
            </a:r>
          </a:p>
          <a:p>
            <a:pPr>
              <a:buNone/>
            </a:pPr>
            <a:r>
              <a:rPr lang="en-IN" dirty="0">
                <a:latin typeface="Times New Roman" panose="02020603050405020304" pitchFamily="18" charset="0"/>
                <a:cs typeface="Times New Roman" panose="02020603050405020304" pitchFamily="18" charset="0"/>
              </a:rPr>
              <a:t>• After SMOTE, the balanced training data was used for training the three Machine Learning models.</a:t>
            </a:r>
          </a:p>
          <a:p>
            <a:pPr>
              <a:buNone/>
            </a:pP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StandardScaler</a:t>
            </a:r>
            <a:r>
              <a:rPr lang="en-IN" dirty="0">
                <a:latin typeface="Times New Roman" panose="02020603050405020304" pitchFamily="18" charset="0"/>
                <a:cs typeface="Times New Roman" panose="02020603050405020304" pitchFamily="18" charset="0"/>
              </a:rPr>
              <a:t> was then applied to the training and testing data for the Logistic Regression model.</a:t>
            </a:r>
          </a:p>
        </p:txBody>
      </p:sp>
      <p:pic>
        <p:nvPicPr>
          <p:cNvPr id="9" name="Picture 8">
            <a:extLst>
              <a:ext uri="{FF2B5EF4-FFF2-40B4-BE49-F238E27FC236}">
                <a16:creationId xmlns:a16="http://schemas.microsoft.com/office/drawing/2014/main" id="{04E69007-38CA-61CC-E587-D512C4D91D97}"/>
              </a:ext>
            </a:extLst>
          </p:cNvPr>
          <p:cNvPicPr>
            <a:picLocks noChangeAspect="1"/>
          </p:cNvPicPr>
          <p:nvPr/>
        </p:nvPicPr>
        <p:blipFill>
          <a:blip r:embed="rId4"/>
          <a:stretch>
            <a:fillRect/>
          </a:stretch>
        </p:blipFill>
        <p:spPr>
          <a:xfrm>
            <a:off x="5793970" y="1702676"/>
            <a:ext cx="3542285" cy="51079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68BED48-A63F-90F9-BF76-26EA09F47995}"/>
            </a:ext>
          </a:extLst>
        </p:cNvPr>
        <p:cNvGrpSpPr/>
        <p:nvPr/>
      </p:nvGrpSpPr>
      <p:grpSpPr>
        <a:xfrm>
          <a:off x="0" y="0"/>
          <a:ext cx="0" cy="0"/>
          <a:chOff x="0" y="0"/>
          <a:chExt cx="0" cy="0"/>
        </a:xfrm>
      </p:grpSpPr>
      <p:pic>
        <p:nvPicPr>
          <p:cNvPr id="2" name="Image 0" descr="logo_small.jpg">
            <a:extLst>
              <a:ext uri="{FF2B5EF4-FFF2-40B4-BE49-F238E27FC236}">
                <a16:creationId xmlns:a16="http://schemas.microsoft.com/office/drawing/2014/main" id="{566BA632-3A29-5524-3550-E43A6C904AAC}"/>
              </a:ext>
            </a:extLst>
          </p:cNvPr>
          <p:cNvPicPr>
            <a:picLocks noChangeAspect="1"/>
          </p:cNvPicPr>
          <p:nvPr/>
        </p:nvPicPr>
        <p:blipFill>
          <a:blip r:embed="rId3"/>
          <a:stretch>
            <a:fillRect/>
          </a:stretch>
        </p:blipFill>
        <p:spPr>
          <a:xfrm>
            <a:off x="274320" y="182880"/>
            <a:ext cx="1188720" cy="434340"/>
          </a:xfrm>
          <a:prstGeom prst="rect">
            <a:avLst/>
          </a:prstGeom>
        </p:spPr>
      </p:pic>
      <p:sp>
        <p:nvSpPr>
          <p:cNvPr id="3" name="Text 0">
            <a:extLst>
              <a:ext uri="{FF2B5EF4-FFF2-40B4-BE49-F238E27FC236}">
                <a16:creationId xmlns:a16="http://schemas.microsoft.com/office/drawing/2014/main" id="{AE6E671D-3E16-CC81-37C6-4C098168E7AF}"/>
              </a:ext>
            </a:extLst>
          </p:cNvPr>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MODEL TRAINING</a:t>
            </a:r>
            <a:endParaRPr lang="en-US" sz="1950" dirty="0"/>
          </a:p>
        </p:txBody>
      </p:sp>
      <p:sp>
        <p:nvSpPr>
          <p:cNvPr id="5" name="TextBox 4">
            <a:extLst>
              <a:ext uri="{FF2B5EF4-FFF2-40B4-BE49-F238E27FC236}">
                <a16:creationId xmlns:a16="http://schemas.microsoft.com/office/drawing/2014/main" id="{7190EBA1-90E8-E442-0A0E-6169A821CD28}"/>
              </a:ext>
            </a:extLst>
          </p:cNvPr>
          <p:cNvSpPr txBox="1"/>
          <p:nvPr/>
        </p:nvSpPr>
        <p:spPr>
          <a:xfrm>
            <a:off x="273269" y="1057522"/>
            <a:ext cx="9511862" cy="5632311"/>
          </a:xfrm>
          <a:prstGeom prst="rect">
            <a:avLst/>
          </a:prstGeom>
          <a:noFill/>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Model Training</a:t>
            </a:r>
          </a:p>
          <a:p>
            <a:pPr algn="just"/>
            <a:r>
              <a:rPr lang="en-IN" dirty="0">
                <a:latin typeface="Times New Roman" panose="02020603050405020304" pitchFamily="18" charset="0"/>
                <a:cs typeface="Times New Roman" panose="02020603050405020304" pitchFamily="18" charset="0"/>
              </a:rPr>
              <a:t>• Three supervised Machine Learning classification algorithms were selected for the project: </a:t>
            </a:r>
            <a:r>
              <a:rPr lang="en-IN" b="1" dirty="0">
                <a:latin typeface="Times New Roman" panose="02020603050405020304" pitchFamily="18" charset="0"/>
                <a:cs typeface="Times New Roman" panose="02020603050405020304" pitchFamily="18" charset="0"/>
              </a:rPr>
              <a:t>Logistic    Regression, Random Forest, and </a:t>
            </a:r>
            <a:r>
              <a:rPr lang="en-IN" b="1"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Logistic Regression</a:t>
            </a:r>
            <a:r>
              <a:rPr lang="en-IN" dirty="0">
                <a:latin typeface="Times New Roman" panose="02020603050405020304" pitchFamily="18" charset="0"/>
                <a:cs typeface="Times New Roman" panose="02020603050405020304" pitchFamily="18" charset="0"/>
              </a:rPr>
              <a:t> was used as a basic classification model to learn the relationship between the selected financial features and loan risk.</a:t>
            </a:r>
          </a:p>
          <a:p>
            <a:pPr algn="just"/>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Random Forest</a:t>
            </a:r>
            <a:r>
              <a:rPr lang="en-IN" dirty="0">
                <a:latin typeface="Times New Roman" panose="02020603050405020304" pitchFamily="18" charset="0"/>
                <a:cs typeface="Times New Roman" panose="02020603050405020304" pitchFamily="18" charset="0"/>
              </a:rPr>
              <a:t> was trained using multiple decision trees to learn different patterns in the applicant data and combine their predictions.</a:t>
            </a:r>
          </a:p>
          <a:p>
            <a:pPr algn="just"/>
            <a:r>
              <a:rPr lang="en-IN" dirty="0">
                <a:latin typeface="Times New Roman" panose="02020603050405020304" pitchFamily="18" charset="0"/>
                <a:cs typeface="Times New Roman" panose="02020603050405020304" pitchFamily="18" charset="0"/>
              </a:rPr>
              <a:t>• The Random Forest model was configured with </a:t>
            </a:r>
            <a:r>
              <a:rPr lang="en-IN" b="1" dirty="0">
                <a:latin typeface="Times New Roman" panose="02020603050405020304" pitchFamily="18" charset="0"/>
                <a:cs typeface="Times New Roman" panose="02020603050405020304" pitchFamily="18" charset="0"/>
              </a:rPr>
              <a:t>300 trees</a:t>
            </a:r>
            <a:r>
              <a:rPr lang="en-IN" dirty="0">
                <a:latin typeface="Times New Roman" panose="02020603050405020304" pitchFamily="18" charset="0"/>
                <a:cs typeface="Times New Roman" panose="02020603050405020304" pitchFamily="18" charset="0"/>
              </a:rPr>
              <a:t> and a </a:t>
            </a:r>
            <a:r>
              <a:rPr lang="en-IN" b="1" dirty="0">
                <a:latin typeface="Times New Roman" panose="02020603050405020304" pitchFamily="18" charset="0"/>
                <a:cs typeface="Times New Roman" panose="02020603050405020304" pitchFamily="18" charset="0"/>
              </a:rPr>
              <a:t>maximum depth of 8</a:t>
            </a:r>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was used as a boosting-based model that builds decision trees sequentially to improve the learning process.</a:t>
            </a:r>
          </a:p>
          <a:p>
            <a:pPr algn="just"/>
            <a:r>
              <a:rPr lang="en-IN" dirty="0">
                <a:latin typeface="Times New Roman" panose="02020603050405020304" pitchFamily="18" charset="0"/>
                <a:cs typeface="Times New Roman" panose="02020603050405020304" pitchFamily="18" charset="0"/>
              </a:rPr>
              <a:t>• The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model was configured with </a:t>
            </a:r>
            <a:r>
              <a:rPr lang="en-IN" b="1" dirty="0">
                <a:latin typeface="Times New Roman" panose="02020603050405020304" pitchFamily="18" charset="0"/>
                <a:cs typeface="Times New Roman" panose="02020603050405020304" pitchFamily="18" charset="0"/>
              </a:rPr>
              <a:t>300 estimators, maximum depth of 4, and a learning rate of 0.1</a:t>
            </a:r>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Random State = 42</a:t>
            </a:r>
            <a:r>
              <a:rPr lang="en-IN" dirty="0">
                <a:latin typeface="Times New Roman" panose="02020603050405020304" pitchFamily="18" charset="0"/>
                <a:cs typeface="Times New Roman" panose="02020603050405020304" pitchFamily="18" charset="0"/>
              </a:rPr>
              <a:t> was used in the models to maintain reproducibility during training.</a:t>
            </a:r>
          </a:p>
          <a:p>
            <a:pPr algn="just"/>
            <a:r>
              <a:rPr lang="en-IN" dirty="0">
                <a:latin typeface="Times New Roman" panose="02020603050405020304" pitchFamily="18" charset="0"/>
                <a:cs typeface="Times New Roman" panose="02020603050405020304" pitchFamily="18" charset="0"/>
              </a:rPr>
              <a:t>• Logistic Regression was trained using the </a:t>
            </a:r>
            <a:r>
              <a:rPr lang="en-IN" b="1" dirty="0">
                <a:latin typeface="Times New Roman" panose="02020603050405020304" pitchFamily="18" charset="0"/>
                <a:cs typeface="Times New Roman" panose="02020603050405020304" pitchFamily="18" charset="0"/>
              </a:rPr>
              <a:t>scaled feature data</a:t>
            </a:r>
            <a:r>
              <a:rPr lang="en-IN" dirty="0">
                <a:latin typeface="Times New Roman" panose="02020603050405020304" pitchFamily="18" charset="0"/>
                <a:cs typeface="Times New Roman" panose="02020603050405020304" pitchFamily="18" charset="0"/>
              </a:rPr>
              <a:t>, while the tree-based models were trained on the prepared feature data.</a:t>
            </a:r>
          </a:p>
          <a:p>
            <a:pPr algn="just"/>
            <a:r>
              <a:rPr lang="en-IN" dirty="0">
                <a:latin typeface="Times New Roman" panose="02020603050405020304" pitchFamily="18" charset="0"/>
                <a:cs typeface="Times New Roman" panose="02020603050405020304" pitchFamily="18" charset="0"/>
              </a:rPr>
              <a:t>• The models learned patterns from the training data by using the applicant's financial and loan-related features.</a:t>
            </a:r>
          </a:p>
          <a:p>
            <a:pPr algn="just"/>
            <a:r>
              <a:rPr lang="en-IN" dirty="0">
                <a:latin typeface="Times New Roman" panose="02020603050405020304" pitchFamily="18" charset="0"/>
                <a:cs typeface="Times New Roman" panose="02020603050405020304" pitchFamily="18" charset="0"/>
              </a:rPr>
              <a:t>• After the training process was completed, the three trained models were ready to classify </a:t>
            </a:r>
            <a:r>
              <a:rPr lang="en-IN" b="1" dirty="0">
                <a:latin typeface="Times New Roman" panose="02020603050405020304" pitchFamily="18" charset="0"/>
                <a:cs typeface="Times New Roman" panose="02020603050405020304" pitchFamily="18" charset="0"/>
              </a:rPr>
              <a:t>new loan applications</a:t>
            </a:r>
            <a:r>
              <a:rPr lang="en-IN" dirty="0">
                <a:latin typeface="Times New Roman" panose="02020603050405020304" pitchFamily="18" charset="0"/>
                <a:cs typeface="Times New Roman" panose="02020603050405020304" pitchFamily="18" charset="0"/>
              </a:rPr>
              <a:t> into their respective risk categories.</a:t>
            </a:r>
          </a:p>
          <a:p>
            <a:pPr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6905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45DE75-3194-C297-82C0-54BC61124634}"/>
            </a:ext>
          </a:extLst>
        </p:cNvPr>
        <p:cNvGrpSpPr/>
        <p:nvPr/>
      </p:nvGrpSpPr>
      <p:grpSpPr>
        <a:xfrm>
          <a:off x="0" y="0"/>
          <a:ext cx="0" cy="0"/>
          <a:chOff x="0" y="0"/>
          <a:chExt cx="0" cy="0"/>
        </a:xfrm>
      </p:grpSpPr>
      <p:pic>
        <p:nvPicPr>
          <p:cNvPr id="2" name="Image 0" descr="logo_small.jpg">
            <a:extLst>
              <a:ext uri="{FF2B5EF4-FFF2-40B4-BE49-F238E27FC236}">
                <a16:creationId xmlns:a16="http://schemas.microsoft.com/office/drawing/2014/main" id="{533EC370-DF44-B612-44FF-E81E7DAE8FEC}"/>
              </a:ext>
            </a:extLst>
          </p:cNvPr>
          <p:cNvPicPr>
            <a:picLocks noChangeAspect="1"/>
          </p:cNvPicPr>
          <p:nvPr/>
        </p:nvPicPr>
        <p:blipFill>
          <a:blip r:embed="rId3"/>
          <a:stretch>
            <a:fillRect/>
          </a:stretch>
        </p:blipFill>
        <p:spPr>
          <a:xfrm>
            <a:off x="274320" y="182880"/>
            <a:ext cx="1188720" cy="434340"/>
          </a:xfrm>
          <a:prstGeom prst="rect">
            <a:avLst/>
          </a:prstGeom>
        </p:spPr>
      </p:pic>
      <p:sp>
        <p:nvSpPr>
          <p:cNvPr id="3" name="Text 0">
            <a:extLst>
              <a:ext uri="{FF2B5EF4-FFF2-40B4-BE49-F238E27FC236}">
                <a16:creationId xmlns:a16="http://schemas.microsoft.com/office/drawing/2014/main" id="{BE0C80E0-F8F1-998F-D7A5-98A8BDF26651}"/>
              </a:ext>
            </a:extLst>
          </p:cNvPr>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 CODE FOR MODEL TRAINING</a:t>
            </a:r>
            <a:endParaRPr lang="en-US" sz="1950" dirty="0"/>
          </a:p>
        </p:txBody>
      </p:sp>
      <p:pic>
        <p:nvPicPr>
          <p:cNvPr id="6" name="Picture 5">
            <a:extLst>
              <a:ext uri="{FF2B5EF4-FFF2-40B4-BE49-F238E27FC236}">
                <a16:creationId xmlns:a16="http://schemas.microsoft.com/office/drawing/2014/main" id="{2FDDAA20-CBC2-50A9-E489-C70E04C25746}"/>
              </a:ext>
            </a:extLst>
          </p:cNvPr>
          <p:cNvPicPr>
            <a:picLocks noChangeAspect="1"/>
          </p:cNvPicPr>
          <p:nvPr/>
        </p:nvPicPr>
        <p:blipFill>
          <a:blip r:embed="rId4"/>
          <a:stretch>
            <a:fillRect/>
          </a:stretch>
        </p:blipFill>
        <p:spPr>
          <a:xfrm>
            <a:off x="5029200" y="1856162"/>
            <a:ext cx="4176122" cy="5258256"/>
          </a:xfrm>
          <a:prstGeom prst="rect">
            <a:avLst/>
          </a:prstGeom>
        </p:spPr>
      </p:pic>
      <p:sp>
        <p:nvSpPr>
          <p:cNvPr id="8" name="TextBox 7">
            <a:extLst>
              <a:ext uri="{FF2B5EF4-FFF2-40B4-BE49-F238E27FC236}">
                <a16:creationId xmlns:a16="http://schemas.microsoft.com/office/drawing/2014/main" id="{F6AC4AA1-735B-E588-5DF1-7720B6197489}"/>
              </a:ext>
            </a:extLst>
          </p:cNvPr>
          <p:cNvSpPr txBox="1"/>
          <p:nvPr/>
        </p:nvSpPr>
        <p:spPr>
          <a:xfrm>
            <a:off x="657159" y="1982286"/>
            <a:ext cx="3623442" cy="4401205"/>
          </a:xfrm>
          <a:prstGeom prst="rect">
            <a:avLst/>
          </a:prstGeom>
          <a:noFill/>
        </p:spPr>
        <p:txBody>
          <a:bodyPr wrap="square">
            <a:spAutoFit/>
          </a:bodyPr>
          <a:lstStyle/>
          <a:p>
            <a:pPr>
              <a:buNone/>
            </a:pPr>
            <a:r>
              <a:rPr lang="en-IN" sz="2000" b="1" dirty="0"/>
              <a:t>MODEL CONFIGURATION</a:t>
            </a:r>
          </a:p>
          <a:p>
            <a:pPr>
              <a:buNone/>
            </a:pPr>
            <a:r>
              <a:rPr lang="en-IN" sz="2000" dirty="0"/>
              <a:t>Three machine learning algorithms—Logistic Regression, Random Forest, and </a:t>
            </a:r>
            <a:r>
              <a:rPr lang="en-IN" sz="2000" dirty="0" err="1"/>
              <a:t>XGBoost</a:t>
            </a:r>
            <a:r>
              <a:rPr lang="en-IN" sz="2000" dirty="0"/>
              <a:t>—were configured for loan risk prediction. Each model uses specific parameters to improve learning and prediction performance. Random Forest uses 300 decision trees, while </a:t>
            </a:r>
            <a:r>
              <a:rPr lang="en-IN" sz="2000" dirty="0" err="1"/>
              <a:t>XGBoost</a:t>
            </a:r>
            <a:r>
              <a:rPr lang="en-IN" sz="2000" dirty="0"/>
              <a:t> uses 300 estimators with a learning rate of 0.1. A fixed random state of 42 is used for reproducibility.</a:t>
            </a:r>
          </a:p>
        </p:txBody>
      </p:sp>
    </p:spTree>
    <p:extLst>
      <p:ext uri="{BB962C8B-B14F-4D97-AF65-F5344CB8AC3E}">
        <p14:creationId xmlns:p14="http://schemas.microsoft.com/office/powerpoint/2010/main" val="1070374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329E452-563A-4459-6D6F-42D68CE74B72}"/>
            </a:ext>
          </a:extLst>
        </p:cNvPr>
        <p:cNvGrpSpPr/>
        <p:nvPr/>
      </p:nvGrpSpPr>
      <p:grpSpPr>
        <a:xfrm>
          <a:off x="0" y="0"/>
          <a:ext cx="0" cy="0"/>
          <a:chOff x="0" y="0"/>
          <a:chExt cx="0" cy="0"/>
        </a:xfrm>
      </p:grpSpPr>
      <p:pic>
        <p:nvPicPr>
          <p:cNvPr id="2" name="Image 0" descr="logo_small.jpg">
            <a:extLst>
              <a:ext uri="{FF2B5EF4-FFF2-40B4-BE49-F238E27FC236}">
                <a16:creationId xmlns:a16="http://schemas.microsoft.com/office/drawing/2014/main" id="{6DE5DB15-6BDD-58F4-6B43-79AAEEE5E961}"/>
              </a:ext>
            </a:extLst>
          </p:cNvPr>
          <p:cNvPicPr>
            <a:picLocks noChangeAspect="1"/>
          </p:cNvPicPr>
          <p:nvPr/>
        </p:nvPicPr>
        <p:blipFill>
          <a:blip r:embed="rId3"/>
          <a:stretch>
            <a:fillRect/>
          </a:stretch>
        </p:blipFill>
        <p:spPr>
          <a:xfrm>
            <a:off x="274320" y="182880"/>
            <a:ext cx="1188720" cy="434340"/>
          </a:xfrm>
          <a:prstGeom prst="rect">
            <a:avLst/>
          </a:prstGeom>
        </p:spPr>
      </p:pic>
      <p:sp>
        <p:nvSpPr>
          <p:cNvPr id="3" name="Text 0">
            <a:extLst>
              <a:ext uri="{FF2B5EF4-FFF2-40B4-BE49-F238E27FC236}">
                <a16:creationId xmlns:a16="http://schemas.microsoft.com/office/drawing/2014/main" id="{BE5164DF-91B2-6984-7EDB-5C0191B3DD7D}"/>
              </a:ext>
            </a:extLst>
          </p:cNvPr>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MODEL EVALUATION</a:t>
            </a:r>
            <a:endParaRPr lang="en-US" sz="1950" dirty="0"/>
          </a:p>
        </p:txBody>
      </p:sp>
      <p:sp>
        <p:nvSpPr>
          <p:cNvPr id="5" name="TextBox 4">
            <a:extLst>
              <a:ext uri="{FF2B5EF4-FFF2-40B4-BE49-F238E27FC236}">
                <a16:creationId xmlns:a16="http://schemas.microsoft.com/office/drawing/2014/main" id="{A9D37B3C-A5B1-9293-6940-9A57C7EF1CE9}"/>
              </a:ext>
            </a:extLst>
          </p:cNvPr>
          <p:cNvSpPr txBox="1"/>
          <p:nvPr/>
        </p:nvSpPr>
        <p:spPr>
          <a:xfrm>
            <a:off x="274320" y="755094"/>
            <a:ext cx="9615914" cy="5078313"/>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Model Evaluation</a:t>
            </a:r>
          </a:p>
          <a:p>
            <a:r>
              <a:rPr lang="en-IN" dirty="0">
                <a:latin typeface="Times New Roman" panose="02020603050405020304" pitchFamily="18" charset="0"/>
                <a:cs typeface="Times New Roman" panose="02020603050405020304" pitchFamily="18" charset="0"/>
              </a:rPr>
              <a:t>• The trained models were evaluated using the </a:t>
            </a:r>
            <a:r>
              <a:rPr lang="en-IN" b="1" dirty="0">
                <a:latin typeface="Times New Roman" panose="02020603050405020304" pitchFamily="18" charset="0"/>
                <a:cs typeface="Times New Roman" panose="02020603050405020304" pitchFamily="18" charset="0"/>
              </a:rPr>
              <a:t>20% unseen test data</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Different performance metrics were used to compare the prediction results of </a:t>
            </a:r>
            <a:r>
              <a:rPr lang="en-IN" b="1" dirty="0">
                <a:latin typeface="Times New Roman" panose="02020603050405020304" pitchFamily="18" charset="0"/>
                <a:cs typeface="Times New Roman" panose="02020603050405020304" pitchFamily="18" charset="0"/>
              </a:rPr>
              <a:t>Logistic Regression, Random Forest, and </a:t>
            </a:r>
            <a:r>
              <a:rPr lang="en-IN" b="1"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Accuracy</a:t>
            </a:r>
            <a:r>
              <a:rPr lang="en-IN" dirty="0">
                <a:latin typeface="Times New Roman" panose="02020603050405020304" pitchFamily="18" charset="0"/>
                <a:cs typeface="Times New Roman" panose="02020603050405020304" pitchFamily="18" charset="0"/>
              </a:rPr>
              <a:t> measures the overall percentage of correctly predicted loan-risk cases.</a:t>
            </a: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Precision</a:t>
            </a:r>
            <a:r>
              <a:rPr lang="en-IN" dirty="0">
                <a:latin typeface="Times New Roman" panose="02020603050405020304" pitchFamily="18" charset="0"/>
                <a:cs typeface="Times New Roman" panose="02020603050405020304" pitchFamily="18" charset="0"/>
              </a:rPr>
              <a:t> measures how many of the applicants predicted as high risk were actually high risk.</a:t>
            </a: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Recall</a:t>
            </a:r>
            <a:r>
              <a:rPr lang="en-IN" dirty="0">
                <a:latin typeface="Times New Roman" panose="02020603050405020304" pitchFamily="18" charset="0"/>
                <a:cs typeface="Times New Roman" panose="02020603050405020304" pitchFamily="18" charset="0"/>
              </a:rPr>
              <a:t> measures how many of the actual high-risk applicants were correctly identified by the model.</a:t>
            </a:r>
          </a:p>
          <a:p>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F2</a:t>
            </a:r>
            <a:r>
              <a:rPr lang="en-IN" b="1" dirty="0">
                <a:latin typeface="Times New Roman" panose="02020603050405020304" pitchFamily="18" charset="0"/>
                <a:cs typeface="Times New Roman" panose="02020603050405020304" pitchFamily="18" charset="0"/>
              </a:rPr>
              <a:t>-Score</a:t>
            </a:r>
            <a:r>
              <a:rPr lang="en-IN" dirty="0">
                <a:latin typeface="Times New Roman" panose="02020603050405020304" pitchFamily="18" charset="0"/>
                <a:cs typeface="Times New Roman" panose="02020603050405020304" pitchFamily="18" charset="0"/>
              </a:rPr>
              <a:t> gives more importance to Recall, which is useful for identifying high-risk loan applicants.</a:t>
            </a: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ROC-AUC</a:t>
            </a:r>
            <a:r>
              <a:rPr lang="en-IN" dirty="0">
                <a:latin typeface="Times New Roman" panose="02020603050405020304" pitchFamily="18" charset="0"/>
                <a:cs typeface="Times New Roman" panose="02020603050405020304" pitchFamily="18" charset="0"/>
              </a:rPr>
              <a:t> measures the model's ability to distinguish between Low Risk and High Risk applicants.</a:t>
            </a:r>
          </a:p>
          <a:p>
            <a:r>
              <a:rPr lang="en-IN" dirty="0">
                <a:latin typeface="Times New Roman" panose="02020603050405020304" pitchFamily="18" charset="0"/>
                <a:cs typeface="Times New Roman" panose="02020603050405020304" pitchFamily="18" charset="0"/>
              </a:rPr>
              <a:t>• A </a:t>
            </a:r>
            <a:r>
              <a:rPr lang="en-IN" b="1" dirty="0">
                <a:latin typeface="Times New Roman" panose="02020603050405020304" pitchFamily="18" charset="0"/>
                <a:cs typeface="Times New Roman" panose="02020603050405020304" pitchFamily="18" charset="0"/>
              </a:rPr>
              <a:t>ROC curve</a:t>
            </a:r>
            <a:r>
              <a:rPr lang="en-IN" dirty="0">
                <a:latin typeface="Times New Roman" panose="02020603050405020304" pitchFamily="18" charset="0"/>
                <a:cs typeface="Times New Roman" panose="02020603050405020304" pitchFamily="18" charset="0"/>
              </a:rPr>
              <a:t> was generated to visualize the classification performance of the models at different decision thresholds.</a:t>
            </a:r>
          </a:p>
          <a:p>
            <a:r>
              <a:rPr lang="en-IN" dirty="0">
                <a:latin typeface="Times New Roman" panose="02020603050405020304" pitchFamily="18" charset="0"/>
                <a:cs typeface="Times New Roman" panose="02020603050405020304" pitchFamily="18" charset="0"/>
              </a:rPr>
              <a:t>• A </a:t>
            </a:r>
            <a:r>
              <a:rPr lang="en-IN" b="1" dirty="0">
                <a:latin typeface="Times New Roman" panose="02020603050405020304" pitchFamily="18" charset="0"/>
                <a:cs typeface="Times New Roman" panose="02020603050405020304" pitchFamily="18" charset="0"/>
              </a:rPr>
              <a:t>confusion matrix</a:t>
            </a:r>
            <a:r>
              <a:rPr lang="en-IN" dirty="0">
                <a:latin typeface="Times New Roman" panose="02020603050405020304" pitchFamily="18" charset="0"/>
                <a:cs typeface="Times New Roman" panose="02020603050405020304" pitchFamily="18" charset="0"/>
              </a:rPr>
              <a:t> was also used to observe correct and incorrect predictions for Low Risk and High Risk classes.</a:t>
            </a:r>
          </a:p>
          <a:p>
            <a:r>
              <a:rPr lang="en-IN" dirty="0">
                <a:latin typeface="Times New Roman" panose="02020603050405020304" pitchFamily="18" charset="0"/>
                <a:cs typeface="Times New Roman" panose="02020603050405020304" pitchFamily="18" charset="0"/>
              </a:rPr>
              <a:t>• The performance values of all three models were compared to identify how well each model classified the loan-risk categories.</a:t>
            </a:r>
          </a:p>
          <a:p>
            <a:r>
              <a:rPr lang="en-IN" dirty="0">
                <a:latin typeface="Times New Roman" panose="02020603050405020304" pitchFamily="18" charset="0"/>
                <a:cs typeface="Times New Roman" panose="02020603050405020304" pitchFamily="18" charset="0"/>
              </a:rPr>
              <a:t>• These evaluation results help determine the effectiveness of the trained models for the </a:t>
            </a:r>
            <a:r>
              <a:rPr lang="en-IN" b="1" dirty="0">
                <a:latin typeface="Times New Roman" panose="02020603050405020304" pitchFamily="18" charset="0"/>
                <a:cs typeface="Times New Roman" panose="02020603050405020304" pitchFamily="18" charset="0"/>
              </a:rPr>
              <a:t>Loan Risk Assessment System</a:t>
            </a:r>
            <a:r>
              <a:rPr lang="en-IN" dirty="0">
                <a:latin typeface="Times New Roman" panose="02020603050405020304" pitchFamily="18" charset="0"/>
                <a:cs typeface="Times New Roman" panose="02020603050405020304" pitchFamily="18" charset="0"/>
              </a:rPr>
              <a:t>.</a:t>
            </a:r>
          </a:p>
          <a:p>
            <a:pPr algn="just">
              <a:buNone/>
            </a:pP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E048FFB-E41E-8068-C094-015C06B43C03}"/>
              </a:ext>
            </a:extLst>
          </p:cNvPr>
          <p:cNvPicPr>
            <a:picLocks noChangeAspect="1"/>
          </p:cNvPicPr>
          <p:nvPr/>
        </p:nvPicPr>
        <p:blipFill>
          <a:blip r:embed="rId4"/>
          <a:stretch>
            <a:fillRect/>
          </a:stretch>
        </p:blipFill>
        <p:spPr>
          <a:xfrm>
            <a:off x="909026" y="5655971"/>
            <a:ext cx="8346502" cy="1526799"/>
          </a:xfrm>
          <a:prstGeom prst="rect">
            <a:avLst/>
          </a:prstGeom>
        </p:spPr>
      </p:pic>
    </p:spTree>
    <p:extLst>
      <p:ext uri="{BB962C8B-B14F-4D97-AF65-F5344CB8AC3E}">
        <p14:creationId xmlns:p14="http://schemas.microsoft.com/office/powerpoint/2010/main" val="2449647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cs typeface="Times New Roman" pitchFamily="34" charset="-120"/>
              </a:rPr>
              <a:t>ROC AUC CURVE &amp; CONFUSION MATRIX</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marL="0" indent="0" algn="l">
              <a:spcAft>
                <a:spcPts val="1400"/>
              </a:spcAft>
              <a:buNone/>
            </a:pPr>
            <a:endParaRPr lang="en-US" sz="2000" dirty="0"/>
          </a:p>
        </p:txBody>
      </p:sp>
      <p:pic>
        <p:nvPicPr>
          <p:cNvPr id="6" name="Picture 5">
            <a:extLst>
              <a:ext uri="{FF2B5EF4-FFF2-40B4-BE49-F238E27FC236}">
                <a16:creationId xmlns:a16="http://schemas.microsoft.com/office/drawing/2014/main" id="{206F354E-541B-5243-24C9-AD0A83CC4104}"/>
              </a:ext>
            </a:extLst>
          </p:cNvPr>
          <p:cNvPicPr>
            <a:picLocks noChangeAspect="1"/>
          </p:cNvPicPr>
          <p:nvPr/>
        </p:nvPicPr>
        <p:blipFill>
          <a:blip r:embed="rId4"/>
          <a:stretch>
            <a:fillRect/>
          </a:stretch>
        </p:blipFill>
        <p:spPr>
          <a:xfrm>
            <a:off x="531609" y="4967418"/>
            <a:ext cx="8313683" cy="2783457"/>
          </a:xfrm>
          <a:prstGeom prst="rect">
            <a:avLst/>
          </a:prstGeom>
        </p:spPr>
      </p:pic>
      <p:pic>
        <p:nvPicPr>
          <p:cNvPr id="10" name="Picture 9">
            <a:extLst>
              <a:ext uri="{FF2B5EF4-FFF2-40B4-BE49-F238E27FC236}">
                <a16:creationId xmlns:a16="http://schemas.microsoft.com/office/drawing/2014/main" id="{3B8D855A-2DA5-27DB-7D0E-E4B1B37C3030}"/>
              </a:ext>
            </a:extLst>
          </p:cNvPr>
          <p:cNvPicPr>
            <a:picLocks noChangeAspect="1"/>
          </p:cNvPicPr>
          <p:nvPr/>
        </p:nvPicPr>
        <p:blipFill>
          <a:blip r:embed="rId5"/>
          <a:stretch>
            <a:fillRect/>
          </a:stretch>
        </p:blipFill>
        <p:spPr>
          <a:xfrm>
            <a:off x="2468879" y="813435"/>
            <a:ext cx="4499479" cy="400116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D252EA6-DCA7-06B2-E3E7-BC3774FE54E0}"/>
            </a:ext>
          </a:extLst>
        </p:cNvPr>
        <p:cNvGrpSpPr/>
        <p:nvPr/>
      </p:nvGrpSpPr>
      <p:grpSpPr>
        <a:xfrm>
          <a:off x="0" y="0"/>
          <a:ext cx="0" cy="0"/>
          <a:chOff x="0" y="0"/>
          <a:chExt cx="0" cy="0"/>
        </a:xfrm>
      </p:grpSpPr>
      <p:pic>
        <p:nvPicPr>
          <p:cNvPr id="2" name="Image 0" descr="logo_small.jpg">
            <a:extLst>
              <a:ext uri="{FF2B5EF4-FFF2-40B4-BE49-F238E27FC236}">
                <a16:creationId xmlns:a16="http://schemas.microsoft.com/office/drawing/2014/main" id="{2FE65B2E-52DD-12C7-7FCE-875B4DF74E8A}"/>
              </a:ext>
            </a:extLst>
          </p:cNvPr>
          <p:cNvPicPr>
            <a:picLocks noChangeAspect="1"/>
          </p:cNvPicPr>
          <p:nvPr/>
        </p:nvPicPr>
        <p:blipFill>
          <a:blip r:embed="rId3"/>
          <a:stretch>
            <a:fillRect/>
          </a:stretch>
        </p:blipFill>
        <p:spPr>
          <a:xfrm>
            <a:off x="274320" y="182880"/>
            <a:ext cx="1188720" cy="434340"/>
          </a:xfrm>
          <a:prstGeom prst="rect">
            <a:avLst/>
          </a:prstGeom>
        </p:spPr>
      </p:pic>
      <p:sp>
        <p:nvSpPr>
          <p:cNvPr id="3" name="Text 0">
            <a:extLst>
              <a:ext uri="{FF2B5EF4-FFF2-40B4-BE49-F238E27FC236}">
                <a16:creationId xmlns:a16="http://schemas.microsoft.com/office/drawing/2014/main" id="{9EB9F447-F27C-8486-5332-D1D4753B7C4F}"/>
              </a:ext>
            </a:extLst>
          </p:cNvPr>
          <p:cNvSpPr/>
          <p:nvPr/>
        </p:nvSpPr>
        <p:spPr>
          <a:xfrm>
            <a:off x="2468879" y="274320"/>
            <a:ext cx="5676637"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 </a:t>
            </a:r>
            <a:r>
              <a:rPr lang="en-US" sz="1950" b="1" dirty="0" err="1">
                <a:solidFill>
                  <a:srgbClr val="FFFFFF"/>
                </a:solidFill>
                <a:latin typeface="Times New Roman" pitchFamily="34" charset="0"/>
                <a:ea typeface="Times New Roman" pitchFamily="34" charset="-122"/>
                <a:cs typeface="Times New Roman" pitchFamily="34" charset="-120"/>
              </a:rPr>
              <a:t>COEFFICEINTS</a:t>
            </a:r>
            <a:r>
              <a:rPr lang="en-US" sz="1950" b="1" dirty="0">
                <a:solidFill>
                  <a:srgbClr val="FFFFFF"/>
                </a:solidFill>
                <a:latin typeface="Times New Roman" pitchFamily="34" charset="0"/>
                <a:ea typeface="Times New Roman" pitchFamily="34" charset="-122"/>
                <a:cs typeface="Times New Roman" pitchFamily="34" charset="-120"/>
              </a:rPr>
              <a:t> AND FEATURE IMPORTANCE</a:t>
            </a:r>
            <a:endParaRPr lang="en-US" sz="1950" dirty="0"/>
          </a:p>
        </p:txBody>
      </p:sp>
      <p:pic>
        <p:nvPicPr>
          <p:cNvPr id="5" name="Picture 4">
            <a:extLst>
              <a:ext uri="{FF2B5EF4-FFF2-40B4-BE49-F238E27FC236}">
                <a16:creationId xmlns:a16="http://schemas.microsoft.com/office/drawing/2014/main" id="{0058ED79-EF94-886F-13BF-0CFF57478A1F}"/>
              </a:ext>
            </a:extLst>
          </p:cNvPr>
          <p:cNvPicPr>
            <a:picLocks noChangeAspect="1"/>
          </p:cNvPicPr>
          <p:nvPr/>
        </p:nvPicPr>
        <p:blipFill>
          <a:blip r:embed="rId4"/>
          <a:stretch>
            <a:fillRect/>
          </a:stretch>
        </p:blipFill>
        <p:spPr>
          <a:xfrm>
            <a:off x="274320" y="4744663"/>
            <a:ext cx="9133490" cy="2753417"/>
          </a:xfrm>
          <a:prstGeom prst="rect">
            <a:avLst/>
          </a:prstGeom>
        </p:spPr>
      </p:pic>
      <p:sp>
        <p:nvSpPr>
          <p:cNvPr id="9" name="TextBox 8">
            <a:extLst>
              <a:ext uri="{FF2B5EF4-FFF2-40B4-BE49-F238E27FC236}">
                <a16:creationId xmlns:a16="http://schemas.microsoft.com/office/drawing/2014/main" id="{3CD84301-E8D4-7141-6894-B4811192BEF3}"/>
              </a:ext>
            </a:extLst>
          </p:cNvPr>
          <p:cNvSpPr txBox="1"/>
          <p:nvPr/>
        </p:nvSpPr>
        <p:spPr>
          <a:xfrm>
            <a:off x="926224" y="937044"/>
            <a:ext cx="8205952" cy="3693319"/>
          </a:xfrm>
          <a:prstGeom prst="rect">
            <a:avLst/>
          </a:prstGeom>
          <a:noFill/>
        </p:spPr>
        <p:txBody>
          <a:bodyPr wrap="square">
            <a:spAutoFit/>
          </a:bodyPr>
          <a:lstStyle/>
          <a:p>
            <a:pPr>
              <a:buNone/>
            </a:pPr>
            <a:r>
              <a:rPr lang="en-IN" b="1" dirty="0"/>
              <a:t>FEATURE IMPORTANCE ANALYSIS</a:t>
            </a:r>
          </a:p>
          <a:p>
            <a:pPr>
              <a:buNone/>
            </a:pPr>
            <a:r>
              <a:rPr lang="en-IN" dirty="0"/>
              <a:t>Feature importance analysis was performed to identify the financial factors that influence loan risk prediction. The graphs compare the feature contributions of Logistic Regression, Random Forest, and </a:t>
            </a:r>
            <a:r>
              <a:rPr lang="en-IN" dirty="0" err="1"/>
              <a:t>XGBoost</a:t>
            </a:r>
            <a:r>
              <a:rPr lang="en-IN" dirty="0"/>
              <a:t>.</a:t>
            </a:r>
          </a:p>
          <a:p>
            <a:pPr>
              <a:buNone/>
            </a:pPr>
            <a:r>
              <a:rPr lang="en-IN" dirty="0"/>
              <a:t>In Logistic Regression, the DTI ratio and Loan Amount have strong positive coefficients, while Monthly Debt Payment has a strong negative coefficient. In Random Forest, Loan Amount is the most important feature, followed by Monthly Income and Credit Score. Similarly, </a:t>
            </a:r>
            <a:r>
              <a:rPr lang="en-IN" dirty="0" err="1"/>
              <a:t>XGBoost</a:t>
            </a:r>
            <a:r>
              <a:rPr lang="en-IN" dirty="0"/>
              <a:t> identifies Loan Amount as the most influential feature, followed by Previous Defaults, Credit Score, and Monthly Income.</a:t>
            </a:r>
          </a:p>
          <a:p>
            <a:pPr>
              <a:buNone/>
            </a:pPr>
            <a:r>
              <a:rPr lang="en-IN" dirty="0"/>
              <a:t>Overall, the analysis shows that Loan Amount is an important factor in both tree-based models, while the relative importance of other features varies across algorithms. These visualizations help explain how different machine learning models use applicant financial information to classify loan risk.</a:t>
            </a:r>
          </a:p>
        </p:txBody>
      </p:sp>
    </p:spTree>
    <p:extLst>
      <p:ext uri="{BB962C8B-B14F-4D97-AF65-F5344CB8AC3E}">
        <p14:creationId xmlns:p14="http://schemas.microsoft.com/office/powerpoint/2010/main" val="250087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4BA89BE-1438-4AC5-C1AA-6CD9320C81A6}"/>
            </a:ext>
          </a:extLst>
        </p:cNvPr>
        <p:cNvGrpSpPr/>
        <p:nvPr/>
      </p:nvGrpSpPr>
      <p:grpSpPr>
        <a:xfrm>
          <a:off x="0" y="0"/>
          <a:ext cx="0" cy="0"/>
          <a:chOff x="0" y="0"/>
          <a:chExt cx="0" cy="0"/>
        </a:xfrm>
      </p:grpSpPr>
      <p:pic>
        <p:nvPicPr>
          <p:cNvPr id="2" name="Image 0" descr="logo_small.jpg">
            <a:extLst>
              <a:ext uri="{FF2B5EF4-FFF2-40B4-BE49-F238E27FC236}">
                <a16:creationId xmlns:a16="http://schemas.microsoft.com/office/drawing/2014/main" id="{D282881A-6B59-F83A-E18C-6664B248BB8B}"/>
              </a:ext>
            </a:extLst>
          </p:cNvPr>
          <p:cNvPicPr>
            <a:picLocks noChangeAspect="1"/>
          </p:cNvPicPr>
          <p:nvPr/>
        </p:nvPicPr>
        <p:blipFill>
          <a:blip r:embed="rId3"/>
          <a:stretch>
            <a:fillRect/>
          </a:stretch>
        </p:blipFill>
        <p:spPr>
          <a:xfrm>
            <a:off x="274320" y="182880"/>
            <a:ext cx="1188720" cy="434340"/>
          </a:xfrm>
          <a:prstGeom prst="rect">
            <a:avLst/>
          </a:prstGeom>
        </p:spPr>
      </p:pic>
      <p:sp>
        <p:nvSpPr>
          <p:cNvPr id="3" name="Text 0">
            <a:extLst>
              <a:ext uri="{FF2B5EF4-FFF2-40B4-BE49-F238E27FC236}">
                <a16:creationId xmlns:a16="http://schemas.microsoft.com/office/drawing/2014/main" id="{42653931-4814-0318-35FF-74F2C4AFC840}"/>
              </a:ext>
            </a:extLst>
          </p:cNvPr>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SYSTEM EXECUTION PROCESS</a:t>
            </a:r>
            <a:endParaRPr lang="en-US" sz="1950" dirty="0"/>
          </a:p>
        </p:txBody>
      </p:sp>
      <p:sp>
        <p:nvSpPr>
          <p:cNvPr id="4" name="Text 1">
            <a:extLst>
              <a:ext uri="{FF2B5EF4-FFF2-40B4-BE49-F238E27FC236}">
                <a16:creationId xmlns:a16="http://schemas.microsoft.com/office/drawing/2014/main" id="{C3A42C22-1999-6032-E52B-B7D750C73C62}"/>
              </a:ext>
            </a:extLst>
          </p:cNvPr>
          <p:cNvSpPr txBox="1"/>
          <p:nvPr/>
        </p:nvSpPr>
        <p:spPr>
          <a:xfrm>
            <a:off x="731520" y="1280160"/>
            <a:ext cx="8595360" cy="6035040"/>
          </a:xfrm>
          <a:prstGeom prst="rect">
            <a:avLst/>
          </a:prstGeom>
          <a:noFill/>
          <a:ln/>
        </p:spPr>
        <p:txBody>
          <a:bodyPr wrap="square" lIns="0" tIns="0" rIns="0" bIns="0" rtlCol="0" anchor="t"/>
          <a:lstStyle/>
          <a:p>
            <a:pPr marL="0" indent="0" algn="l">
              <a:spcAft>
                <a:spcPts val="1400"/>
              </a:spcAft>
              <a:buNone/>
            </a:pPr>
            <a:endParaRPr lang="en-US" sz="2000" dirty="0"/>
          </a:p>
        </p:txBody>
      </p:sp>
      <p:pic>
        <p:nvPicPr>
          <p:cNvPr id="5" name="Picture 4">
            <a:extLst>
              <a:ext uri="{FF2B5EF4-FFF2-40B4-BE49-F238E27FC236}">
                <a16:creationId xmlns:a16="http://schemas.microsoft.com/office/drawing/2014/main" id="{5B05EF03-3570-85D5-55DD-D6C1C07E26E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68880" y="938902"/>
            <a:ext cx="5403368" cy="6717687"/>
          </a:xfrm>
          <a:prstGeom prst="rect">
            <a:avLst/>
          </a:prstGeom>
          <a:noFill/>
          <a:ln>
            <a:noFill/>
          </a:ln>
        </p:spPr>
      </p:pic>
    </p:spTree>
    <p:extLst>
      <p:ext uri="{BB962C8B-B14F-4D97-AF65-F5344CB8AC3E}">
        <p14:creationId xmlns:p14="http://schemas.microsoft.com/office/powerpoint/2010/main" val="2351185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08124CF-64AA-F93A-2EE1-B3C2C1A149D6}"/>
            </a:ext>
          </a:extLst>
        </p:cNvPr>
        <p:cNvGrpSpPr/>
        <p:nvPr/>
      </p:nvGrpSpPr>
      <p:grpSpPr>
        <a:xfrm>
          <a:off x="0" y="0"/>
          <a:ext cx="0" cy="0"/>
          <a:chOff x="0" y="0"/>
          <a:chExt cx="0" cy="0"/>
        </a:xfrm>
      </p:grpSpPr>
      <p:pic>
        <p:nvPicPr>
          <p:cNvPr id="2" name="Image 0" descr="logo_small.jpg">
            <a:extLst>
              <a:ext uri="{FF2B5EF4-FFF2-40B4-BE49-F238E27FC236}">
                <a16:creationId xmlns:a16="http://schemas.microsoft.com/office/drawing/2014/main" id="{714C0C57-9F66-1CFA-832A-A883C0D6FB34}"/>
              </a:ext>
            </a:extLst>
          </p:cNvPr>
          <p:cNvPicPr>
            <a:picLocks noChangeAspect="1"/>
          </p:cNvPicPr>
          <p:nvPr/>
        </p:nvPicPr>
        <p:blipFill>
          <a:blip r:embed="rId3"/>
          <a:stretch>
            <a:fillRect/>
          </a:stretch>
        </p:blipFill>
        <p:spPr>
          <a:xfrm>
            <a:off x="274320" y="182880"/>
            <a:ext cx="1188720" cy="434340"/>
          </a:xfrm>
          <a:prstGeom prst="rect">
            <a:avLst/>
          </a:prstGeom>
        </p:spPr>
      </p:pic>
      <p:sp>
        <p:nvSpPr>
          <p:cNvPr id="3" name="Text 0">
            <a:extLst>
              <a:ext uri="{FF2B5EF4-FFF2-40B4-BE49-F238E27FC236}">
                <a16:creationId xmlns:a16="http://schemas.microsoft.com/office/drawing/2014/main" id="{C89D920A-61A0-5A17-DAB7-E524B5D8C31E}"/>
              </a:ext>
            </a:extLst>
          </p:cNvPr>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cs typeface="Times New Roman" pitchFamily="34" charset="-120"/>
              </a:rPr>
              <a:t>SAVING BEST MODEL AS PKL FILE </a:t>
            </a:r>
            <a:endParaRPr lang="en-US" sz="1950" dirty="0"/>
          </a:p>
        </p:txBody>
      </p:sp>
      <p:sp>
        <p:nvSpPr>
          <p:cNvPr id="4" name="Text 1">
            <a:extLst>
              <a:ext uri="{FF2B5EF4-FFF2-40B4-BE49-F238E27FC236}">
                <a16:creationId xmlns:a16="http://schemas.microsoft.com/office/drawing/2014/main" id="{B4E37671-C41B-E8C6-B402-E9E0002D4C4E}"/>
              </a:ext>
            </a:extLst>
          </p:cNvPr>
          <p:cNvSpPr txBox="1"/>
          <p:nvPr/>
        </p:nvSpPr>
        <p:spPr>
          <a:xfrm>
            <a:off x="868680" y="1031590"/>
            <a:ext cx="8170742" cy="5709219"/>
          </a:xfrm>
          <a:prstGeom prst="rect">
            <a:avLst/>
          </a:prstGeom>
          <a:noFill/>
          <a:ln/>
        </p:spPr>
        <p:txBody>
          <a:bodyPr wrap="square" lIns="0" tIns="0" rIns="0" bIns="0" rtlCol="0" anchor="t"/>
          <a:lstStyle/>
          <a:p>
            <a:r>
              <a:rPr lang="en-IN" sz="2000" b="1" dirty="0"/>
              <a:t>SAVING THE BEST MODEL AS A PKL FILE</a:t>
            </a:r>
          </a:p>
          <a:p>
            <a:r>
              <a:rPr lang="en-IN" sz="2000" dirty="0"/>
              <a:t>After evaluating the three machine learning algorithms, Random Forest was selected as the best-performing model because it achieved the highest accuracy of </a:t>
            </a:r>
            <a:r>
              <a:rPr lang="en-IN" sz="2000" b="1" dirty="0"/>
              <a:t>91.96%</a:t>
            </a:r>
            <a:r>
              <a:rPr lang="en-IN" sz="2000" dirty="0"/>
              <a:t>.</a:t>
            </a:r>
          </a:p>
          <a:p>
            <a:r>
              <a:rPr lang="en-IN" sz="2000" dirty="0"/>
              <a:t>The trained Random Forest model is saved as a </a:t>
            </a:r>
            <a:r>
              <a:rPr lang="en-IN" dirty="0"/>
              <a:t>.</a:t>
            </a:r>
            <a:r>
              <a:rPr lang="en-IN" dirty="0" err="1"/>
              <a:t>pkl</a:t>
            </a:r>
            <a:r>
              <a:rPr lang="en-IN" sz="2000" dirty="0"/>
              <a:t> file using the </a:t>
            </a:r>
            <a:r>
              <a:rPr lang="en-IN" sz="2000" dirty="0" err="1"/>
              <a:t>Joblib</a:t>
            </a:r>
            <a:r>
              <a:rPr lang="en-IN" sz="2000" dirty="0"/>
              <a:t> library. The preprocessing imputer and selected feature names are also saved separately to ensure that new applicant data is processed consistently during prediction.</a:t>
            </a:r>
          </a:p>
          <a:p>
            <a:r>
              <a:rPr lang="en-IN" sz="2000" b="1" dirty="0"/>
              <a:t>Key Points:</a:t>
            </a:r>
            <a:endParaRPr lang="en-IN" sz="2000" dirty="0"/>
          </a:p>
          <a:p>
            <a:pPr lvl="0"/>
            <a:r>
              <a:rPr lang="en-IN" sz="2000" b="1" dirty="0"/>
              <a:t>Model Saving:</a:t>
            </a:r>
            <a:r>
              <a:rPr lang="en-IN" sz="2000" dirty="0"/>
              <a:t> Saves the trained Random Forest model as </a:t>
            </a:r>
            <a:r>
              <a:rPr lang="en-IN" dirty="0" err="1"/>
              <a:t>loan_risk_random_forest.pkl</a:t>
            </a:r>
            <a:r>
              <a:rPr lang="en-IN" sz="2000" dirty="0"/>
              <a:t>.</a:t>
            </a:r>
          </a:p>
          <a:p>
            <a:pPr lvl="0"/>
            <a:r>
              <a:rPr lang="en-IN" sz="2000" b="1" dirty="0"/>
              <a:t>Preprocessing:</a:t>
            </a:r>
            <a:r>
              <a:rPr lang="en-IN" sz="2000" dirty="0"/>
              <a:t> Saves the median imputer as </a:t>
            </a:r>
            <a:r>
              <a:rPr lang="en-IN" dirty="0" err="1"/>
              <a:t>loan_risk_imputer.pkl</a:t>
            </a:r>
            <a:r>
              <a:rPr lang="en-IN" sz="2000" dirty="0"/>
              <a:t>.</a:t>
            </a:r>
          </a:p>
          <a:p>
            <a:pPr lvl="0"/>
            <a:r>
              <a:rPr lang="en-IN" sz="2000" b="1" dirty="0"/>
              <a:t>Feature Storage:</a:t>
            </a:r>
            <a:r>
              <a:rPr lang="en-IN" sz="2000" dirty="0"/>
              <a:t> Saves the selected feature names as </a:t>
            </a:r>
            <a:r>
              <a:rPr lang="en-IN" dirty="0" err="1"/>
              <a:t>loan_risk_features.pkl</a:t>
            </a:r>
            <a:r>
              <a:rPr lang="en-IN" sz="2000" dirty="0"/>
              <a:t>.</a:t>
            </a:r>
          </a:p>
          <a:p>
            <a:pPr lvl="0"/>
            <a:r>
              <a:rPr lang="en-IN" sz="2000" b="1" dirty="0"/>
              <a:t>Model Reusability:</a:t>
            </a:r>
            <a:r>
              <a:rPr lang="en-IN" sz="2000" dirty="0"/>
              <a:t> Allows the trained model and preprocessing files to be loaded later without retraining the model.</a:t>
            </a:r>
          </a:p>
          <a:p>
            <a:pPr lvl="0"/>
            <a:r>
              <a:rPr lang="en-IN" sz="2000" b="1" dirty="0" err="1"/>
              <a:t>Streamlit</a:t>
            </a:r>
            <a:r>
              <a:rPr lang="en-IN" sz="2000" b="1" dirty="0"/>
              <a:t> Integration:</a:t>
            </a:r>
            <a:r>
              <a:rPr lang="en-IN" sz="2000" dirty="0"/>
              <a:t> The saved files can be loaded by the </a:t>
            </a:r>
            <a:r>
              <a:rPr lang="en-IN" sz="2000" dirty="0" err="1"/>
              <a:t>Streamlit</a:t>
            </a:r>
            <a:r>
              <a:rPr lang="en-IN" sz="2000" dirty="0"/>
              <a:t> application to predict whether an applicant belongs to the Low Risk or High Risk category.</a:t>
            </a:r>
          </a:p>
          <a:p>
            <a:r>
              <a:rPr lang="en-IN" sz="2000" dirty="0"/>
              <a:t>This process makes the trained model reusable and connects the machine learning training stage with the loan risk prediction application.</a:t>
            </a:r>
          </a:p>
          <a:p>
            <a:pPr marL="0" indent="0" algn="l">
              <a:spcAft>
                <a:spcPts val="1400"/>
              </a:spcAft>
              <a:buNone/>
            </a:pPr>
            <a:endParaRPr lang="en-US" sz="2000" dirty="0"/>
          </a:p>
        </p:txBody>
      </p:sp>
    </p:spTree>
    <p:extLst>
      <p:ext uri="{BB962C8B-B14F-4D97-AF65-F5344CB8AC3E}">
        <p14:creationId xmlns:p14="http://schemas.microsoft.com/office/powerpoint/2010/main" val="2100696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D5EFD7-2D1D-267E-DB3F-37DC29052DFC}"/>
            </a:ext>
          </a:extLst>
        </p:cNvPr>
        <p:cNvGrpSpPr/>
        <p:nvPr/>
      </p:nvGrpSpPr>
      <p:grpSpPr>
        <a:xfrm>
          <a:off x="0" y="0"/>
          <a:ext cx="0" cy="0"/>
          <a:chOff x="0" y="0"/>
          <a:chExt cx="0" cy="0"/>
        </a:xfrm>
      </p:grpSpPr>
      <p:pic>
        <p:nvPicPr>
          <p:cNvPr id="2" name="Image 0" descr="logo_small.jpg">
            <a:extLst>
              <a:ext uri="{FF2B5EF4-FFF2-40B4-BE49-F238E27FC236}">
                <a16:creationId xmlns:a16="http://schemas.microsoft.com/office/drawing/2014/main" id="{6D35899A-108A-B7E7-2FBB-0FD5220DD531}"/>
              </a:ext>
            </a:extLst>
          </p:cNvPr>
          <p:cNvPicPr>
            <a:picLocks noChangeAspect="1"/>
          </p:cNvPicPr>
          <p:nvPr/>
        </p:nvPicPr>
        <p:blipFill>
          <a:blip r:embed="rId3"/>
          <a:stretch>
            <a:fillRect/>
          </a:stretch>
        </p:blipFill>
        <p:spPr>
          <a:xfrm>
            <a:off x="274320" y="182880"/>
            <a:ext cx="1188720" cy="434340"/>
          </a:xfrm>
          <a:prstGeom prst="rect">
            <a:avLst/>
          </a:prstGeom>
        </p:spPr>
      </p:pic>
      <p:sp>
        <p:nvSpPr>
          <p:cNvPr id="3" name="Text 0">
            <a:extLst>
              <a:ext uri="{FF2B5EF4-FFF2-40B4-BE49-F238E27FC236}">
                <a16:creationId xmlns:a16="http://schemas.microsoft.com/office/drawing/2014/main" id="{C91F9FE6-6431-B6B1-CEDF-1F052041F402}"/>
              </a:ext>
            </a:extLst>
          </p:cNvPr>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cs typeface="Times New Roman" pitchFamily="34" charset="-120"/>
              </a:rPr>
              <a:t>SAVING BEST MODEL AS PKL FILE </a:t>
            </a:r>
            <a:endParaRPr lang="en-US" sz="1950" dirty="0"/>
          </a:p>
        </p:txBody>
      </p:sp>
      <p:sp>
        <p:nvSpPr>
          <p:cNvPr id="4" name="Text 1">
            <a:extLst>
              <a:ext uri="{FF2B5EF4-FFF2-40B4-BE49-F238E27FC236}">
                <a16:creationId xmlns:a16="http://schemas.microsoft.com/office/drawing/2014/main" id="{3FA8A9BD-7215-5C03-6BB1-EA7259EB5AEB}"/>
              </a:ext>
            </a:extLst>
          </p:cNvPr>
          <p:cNvSpPr txBox="1"/>
          <p:nvPr/>
        </p:nvSpPr>
        <p:spPr>
          <a:xfrm>
            <a:off x="868680" y="1031590"/>
            <a:ext cx="8170742" cy="5709219"/>
          </a:xfrm>
          <a:prstGeom prst="rect">
            <a:avLst/>
          </a:prstGeom>
          <a:noFill/>
          <a:ln/>
        </p:spPr>
        <p:txBody>
          <a:bodyPr wrap="square" lIns="0" tIns="0" rIns="0" bIns="0" rtlCol="0" anchor="t"/>
          <a:lstStyle/>
          <a:p>
            <a:pPr marL="0" indent="0" algn="l">
              <a:spcAft>
                <a:spcPts val="1400"/>
              </a:spcAft>
              <a:buNone/>
            </a:pPr>
            <a:endParaRPr lang="en-US" sz="2000" dirty="0"/>
          </a:p>
        </p:txBody>
      </p:sp>
      <p:pic>
        <p:nvPicPr>
          <p:cNvPr id="6" name="Picture 5">
            <a:extLst>
              <a:ext uri="{FF2B5EF4-FFF2-40B4-BE49-F238E27FC236}">
                <a16:creationId xmlns:a16="http://schemas.microsoft.com/office/drawing/2014/main" id="{33547297-564B-A4F4-900E-A001E9D3DE38}"/>
              </a:ext>
            </a:extLst>
          </p:cNvPr>
          <p:cNvPicPr>
            <a:picLocks noChangeAspect="1"/>
          </p:cNvPicPr>
          <p:nvPr/>
        </p:nvPicPr>
        <p:blipFill>
          <a:blip r:embed="rId4"/>
          <a:stretch>
            <a:fillRect/>
          </a:stretch>
        </p:blipFill>
        <p:spPr>
          <a:xfrm>
            <a:off x="1316979" y="1031590"/>
            <a:ext cx="7274144" cy="6261502"/>
          </a:xfrm>
          <a:prstGeom prst="rect">
            <a:avLst/>
          </a:prstGeom>
        </p:spPr>
      </p:pic>
    </p:spTree>
    <p:extLst>
      <p:ext uri="{BB962C8B-B14F-4D97-AF65-F5344CB8AC3E}">
        <p14:creationId xmlns:p14="http://schemas.microsoft.com/office/powerpoint/2010/main" val="3000299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err="1">
                <a:solidFill>
                  <a:srgbClr val="FFFFFF"/>
                </a:solidFill>
                <a:latin typeface="Times New Roman" pitchFamily="34" charset="0"/>
                <a:cs typeface="Times New Roman" pitchFamily="34" charset="-120"/>
              </a:rPr>
              <a:t>STREAMLIT</a:t>
            </a:r>
            <a:r>
              <a:rPr lang="en-US" sz="1950" b="1" dirty="0">
                <a:solidFill>
                  <a:srgbClr val="FFFFFF"/>
                </a:solidFill>
                <a:latin typeface="Times New Roman" pitchFamily="34" charset="0"/>
                <a:cs typeface="Times New Roman" pitchFamily="34" charset="-120"/>
              </a:rPr>
              <a:t> APPLICATION OUTPUT</a:t>
            </a:r>
            <a:endParaRPr lang="en-US" sz="1950" dirty="0"/>
          </a:p>
        </p:txBody>
      </p:sp>
      <p:sp>
        <p:nvSpPr>
          <p:cNvPr id="4" name="Text 1"/>
          <p:cNvSpPr txBox="1"/>
          <p:nvPr/>
        </p:nvSpPr>
        <p:spPr>
          <a:xfrm>
            <a:off x="731520" y="1280160"/>
            <a:ext cx="8595360" cy="2194560"/>
          </a:xfrm>
          <a:prstGeom prst="rect">
            <a:avLst/>
          </a:prstGeom>
          <a:noFill/>
          <a:ln/>
        </p:spPr>
        <p:txBody>
          <a:bodyPr wrap="square" lIns="0" tIns="0" rIns="0" bIns="0" rtlCol="0" anchor="t"/>
          <a:lstStyle/>
          <a:p>
            <a:pPr marL="0" indent="0" algn="l">
              <a:spcAft>
                <a:spcPts val="1400"/>
              </a:spcAft>
              <a:buNone/>
            </a:pPr>
            <a:endParaRPr lang="en-US" sz="2000" dirty="0"/>
          </a:p>
        </p:txBody>
      </p:sp>
      <p:sp>
        <p:nvSpPr>
          <p:cNvPr id="9" name="TextBox 8">
            <a:extLst>
              <a:ext uri="{FF2B5EF4-FFF2-40B4-BE49-F238E27FC236}">
                <a16:creationId xmlns:a16="http://schemas.microsoft.com/office/drawing/2014/main" id="{8FB9553F-414B-24A9-1788-0A033EEF3445}"/>
              </a:ext>
            </a:extLst>
          </p:cNvPr>
          <p:cNvSpPr txBox="1"/>
          <p:nvPr/>
        </p:nvSpPr>
        <p:spPr>
          <a:xfrm>
            <a:off x="868680" y="1059617"/>
            <a:ext cx="7818120" cy="5632311"/>
          </a:xfrm>
          <a:prstGeom prst="rect">
            <a:avLst/>
          </a:prstGeom>
          <a:noFill/>
        </p:spPr>
        <p:txBody>
          <a:bodyPr wrap="square">
            <a:spAutoFit/>
          </a:bodyPr>
          <a:lstStyle/>
          <a:p>
            <a:pPr marL="342900" lvl="0" indent="-342900">
              <a:buFont typeface="Arial" panose="020B0604020202020204" pitchFamily="34" charset="0"/>
              <a:buChar char="•"/>
            </a:pPr>
            <a:r>
              <a:rPr lang="en-IN" dirty="0"/>
              <a:t>The system provides a </a:t>
            </a:r>
            <a:r>
              <a:rPr lang="en-IN" b="1" dirty="0"/>
              <a:t>simple and user-friendly </a:t>
            </a:r>
            <a:r>
              <a:rPr lang="en-IN" b="1" dirty="0" err="1"/>
              <a:t>Streamlit</a:t>
            </a:r>
            <a:r>
              <a:rPr lang="en-IN" b="1" dirty="0"/>
              <a:t> web interface</a:t>
            </a:r>
            <a:r>
              <a:rPr lang="en-IN" dirty="0"/>
              <a:t> for loan risk prediction. </a:t>
            </a:r>
          </a:p>
          <a:p>
            <a:pPr marL="342900" lvl="0" indent="-342900">
              <a:buFont typeface="Arial" panose="020B0604020202020204" pitchFamily="34" charset="0"/>
              <a:buChar char="•"/>
            </a:pPr>
            <a:r>
              <a:rPr lang="en-IN" dirty="0"/>
              <a:t>Users can enter important applicant details such as: </a:t>
            </a:r>
          </a:p>
          <a:p>
            <a:pPr marL="742950" lvl="1" indent="-285750">
              <a:buFont typeface="Arial" panose="020B0604020202020204" pitchFamily="34" charset="0"/>
              <a:buChar char="•"/>
            </a:pPr>
            <a:r>
              <a:rPr lang="en-IN" b="1" dirty="0"/>
              <a:t>Age</a:t>
            </a:r>
            <a:r>
              <a:rPr lang="en-IN" dirty="0"/>
              <a:t> </a:t>
            </a:r>
          </a:p>
          <a:p>
            <a:pPr marL="742950" lvl="1" indent="-285750">
              <a:buFont typeface="Arial" panose="020B0604020202020204" pitchFamily="34" charset="0"/>
              <a:buChar char="•"/>
            </a:pPr>
            <a:r>
              <a:rPr lang="en-IN" b="1" dirty="0"/>
              <a:t>Monthly Income</a:t>
            </a:r>
            <a:r>
              <a:rPr lang="en-IN" dirty="0"/>
              <a:t> </a:t>
            </a:r>
          </a:p>
          <a:p>
            <a:pPr marL="742950" lvl="1" indent="-285750">
              <a:buFont typeface="Arial" panose="020B0604020202020204" pitchFamily="34" charset="0"/>
              <a:buChar char="•"/>
            </a:pPr>
            <a:r>
              <a:rPr lang="en-IN" b="1" dirty="0"/>
              <a:t>Loan Amount</a:t>
            </a:r>
            <a:r>
              <a:rPr lang="en-IN" dirty="0"/>
              <a:t> </a:t>
            </a:r>
          </a:p>
          <a:p>
            <a:pPr marL="742950" lvl="1" indent="-285750">
              <a:buFont typeface="Arial" panose="020B0604020202020204" pitchFamily="34" charset="0"/>
              <a:buChar char="•"/>
            </a:pPr>
            <a:r>
              <a:rPr lang="en-IN" b="1" dirty="0"/>
              <a:t>Loan Term</a:t>
            </a:r>
            <a:r>
              <a:rPr lang="en-IN" dirty="0"/>
              <a:t> </a:t>
            </a:r>
          </a:p>
          <a:p>
            <a:pPr marL="742950" lvl="1" indent="-285750">
              <a:buFont typeface="Arial" panose="020B0604020202020204" pitchFamily="34" charset="0"/>
              <a:buChar char="•"/>
            </a:pPr>
            <a:r>
              <a:rPr lang="en-IN" b="1" dirty="0"/>
              <a:t>Credit Score</a:t>
            </a:r>
            <a:r>
              <a:rPr lang="en-IN" dirty="0"/>
              <a:t> </a:t>
            </a:r>
          </a:p>
          <a:p>
            <a:pPr marL="742950" lvl="1" indent="-285750">
              <a:buFont typeface="Arial" panose="020B0604020202020204" pitchFamily="34" charset="0"/>
              <a:buChar char="•"/>
            </a:pPr>
            <a:r>
              <a:rPr lang="en-IN" b="1" dirty="0"/>
              <a:t>Previous Defaults</a:t>
            </a:r>
            <a:r>
              <a:rPr lang="en-IN" dirty="0"/>
              <a:t> </a:t>
            </a:r>
          </a:p>
          <a:p>
            <a:pPr marL="742950" lvl="1" indent="-285750">
              <a:buFont typeface="Arial" panose="020B0604020202020204" pitchFamily="34" charset="0"/>
              <a:buChar char="•"/>
            </a:pPr>
            <a:r>
              <a:rPr lang="en-IN" b="1" dirty="0"/>
              <a:t>Monthly Debt Payment</a:t>
            </a:r>
            <a:r>
              <a:rPr lang="en-IN" dirty="0"/>
              <a:t> </a:t>
            </a:r>
          </a:p>
          <a:p>
            <a:pPr marL="342900" lvl="0" indent="-342900">
              <a:buFont typeface="Arial" panose="020B0604020202020204" pitchFamily="34" charset="0"/>
              <a:buChar char="•"/>
            </a:pPr>
            <a:r>
              <a:rPr lang="en-IN" dirty="0"/>
              <a:t>The system automatically calculates the </a:t>
            </a:r>
            <a:r>
              <a:rPr lang="en-IN" b="1" dirty="0"/>
              <a:t>Debt-to-Income (DTI) Ratio</a:t>
            </a:r>
            <a:r>
              <a:rPr lang="en-IN" dirty="0"/>
              <a:t> from the entered financial information. </a:t>
            </a:r>
          </a:p>
          <a:p>
            <a:pPr marL="342900" lvl="0" indent="-342900">
              <a:buFont typeface="Arial" panose="020B0604020202020204" pitchFamily="34" charset="0"/>
              <a:buChar char="•"/>
            </a:pPr>
            <a:r>
              <a:rPr lang="en-IN" dirty="0"/>
              <a:t>After entering the required details, the user can click </a:t>
            </a:r>
            <a:r>
              <a:rPr lang="en-IN" b="1" dirty="0"/>
              <a:t>“Predict Loan Risk”</a:t>
            </a:r>
            <a:r>
              <a:rPr lang="en-IN" dirty="0"/>
              <a:t> to generate the prediction. </a:t>
            </a:r>
          </a:p>
          <a:p>
            <a:pPr marL="342900" lvl="0" indent="-342900">
              <a:buFont typeface="Arial" panose="020B0604020202020204" pitchFamily="34" charset="0"/>
              <a:buChar char="•"/>
            </a:pPr>
            <a:r>
              <a:rPr lang="en-IN" dirty="0"/>
              <a:t>The trained Machine Learning model </a:t>
            </a:r>
            <a:r>
              <a:rPr lang="en-IN" dirty="0" err="1"/>
              <a:t>analyzes</a:t>
            </a:r>
            <a:r>
              <a:rPr lang="en-IN" dirty="0"/>
              <a:t> the input features and classifies the applicant as </a:t>
            </a:r>
            <a:r>
              <a:rPr lang="en-IN" b="1" dirty="0"/>
              <a:t>Low Risk or High Risk</a:t>
            </a:r>
            <a:r>
              <a:rPr lang="en-IN" dirty="0"/>
              <a:t>. </a:t>
            </a:r>
          </a:p>
          <a:p>
            <a:pPr marL="342900" lvl="0" indent="-342900">
              <a:buFont typeface="Arial" panose="020B0604020202020204" pitchFamily="34" charset="0"/>
              <a:buChar char="•"/>
            </a:pPr>
            <a:r>
              <a:rPr lang="en-IN" dirty="0"/>
              <a:t>The interface also displays the </a:t>
            </a:r>
            <a:r>
              <a:rPr lang="en-IN" b="1" dirty="0"/>
              <a:t>High Risk and Low Risk probabilities</a:t>
            </a:r>
            <a:r>
              <a:rPr lang="en-IN" dirty="0"/>
              <a:t> along with the prediction result. </a:t>
            </a:r>
          </a:p>
          <a:p>
            <a:pPr marL="342900" lvl="0" indent="-342900">
              <a:buFont typeface="Arial" panose="020B0604020202020204" pitchFamily="34" charset="0"/>
              <a:buChar char="•"/>
            </a:pPr>
            <a:r>
              <a:rPr lang="en-IN" dirty="0"/>
              <a:t>The </a:t>
            </a:r>
            <a:r>
              <a:rPr lang="en-IN" dirty="0" err="1"/>
              <a:t>Streamlit</a:t>
            </a:r>
            <a:r>
              <a:rPr lang="en-IN" dirty="0"/>
              <a:t> interface connects the </a:t>
            </a:r>
            <a:r>
              <a:rPr lang="en-IN" b="1" dirty="0"/>
              <a:t>trained ML model with the user input</a:t>
            </a:r>
            <a:r>
              <a:rPr lang="en-IN" dirty="0"/>
              <a:t>, making the prediction process fast and easy to use.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198C70A-724C-DED5-CA14-8FFBF6980293}"/>
            </a:ext>
          </a:extLst>
        </p:cNvPr>
        <p:cNvGrpSpPr/>
        <p:nvPr/>
      </p:nvGrpSpPr>
      <p:grpSpPr>
        <a:xfrm>
          <a:off x="0" y="0"/>
          <a:ext cx="0" cy="0"/>
          <a:chOff x="0" y="0"/>
          <a:chExt cx="0" cy="0"/>
        </a:xfrm>
      </p:grpSpPr>
      <p:pic>
        <p:nvPicPr>
          <p:cNvPr id="2" name="Image 0" descr="logo_small.jpg">
            <a:extLst>
              <a:ext uri="{FF2B5EF4-FFF2-40B4-BE49-F238E27FC236}">
                <a16:creationId xmlns:a16="http://schemas.microsoft.com/office/drawing/2014/main" id="{680D2CF4-D205-F8E4-DFE3-09281E95FC94}"/>
              </a:ext>
            </a:extLst>
          </p:cNvPr>
          <p:cNvPicPr>
            <a:picLocks noChangeAspect="1"/>
          </p:cNvPicPr>
          <p:nvPr/>
        </p:nvPicPr>
        <p:blipFill>
          <a:blip r:embed="rId3"/>
          <a:stretch>
            <a:fillRect/>
          </a:stretch>
        </p:blipFill>
        <p:spPr>
          <a:xfrm>
            <a:off x="274320" y="182880"/>
            <a:ext cx="1188720" cy="434340"/>
          </a:xfrm>
          <a:prstGeom prst="rect">
            <a:avLst/>
          </a:prstGeom>
        </p:spPr>
      </p:pic>
      <p:sp>
        <p:nvSpPr>
          <p:cNvPr id="3" name="Text 0">
            <a:extLst>
              <a:ext uri="{FF2B5EF4-FFF2-40B4-BE49-F238E27FC236}">
                <a16:creationId xmlns:a16="http://schemas.microsoft.com/office/drawing/2014/main" id="{2411F8B3-62F5-EF2F-316A-D6D88D775E78}"/>
              </a:ext>
            </a:extLst>
          </p:cNvPr>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err="1">
                <a:solidFill>
                  <a:srgbClr val="FFFFFF"/>
                </a:solidFill>
                <a:latin typeface="Times New Roman" pitchFamily="34" charset="0"/>
                <a:cs typeface="Times New Roman" pitchFamily="34" charset="-120"/>
              </a:rPr>
              <a:t>STREAMLIT</a:t>
            </a:r>
            <a:r>
              <a:rPr lang="en-US" sz="1950" b="1" dirty="0">
                <a:solidFill>
                  <a:srgbClr val="FFFFFF"/>
                </a:solidFill>
                <a:latin typeface="Times New Roman" pitchFamily="34" charset="0"/>
                <a:cs typeface="Times New Roman" pitchFamily="34" charset="-120"/>
              </a:rPr>
              <a:t> APPLICATION OUTPUT</a:t>
            </a:r>
            <a:endParaRPr lang="en-US" sz="1950" dirty="0"/>
          </a:p>
        </p:txBody>
      </p:sp>
      <p:sp>
        <p:nvSpPr>
          <p:cNvPr id="4" name="Text 1">
            <a:extLst>
              <a:ext uri="{FF2B5EF4-FFF2-40B4-BE49-F238E27FC236}">
                <a16:creationId xmlns:a16="http://schemas.microsoft.com/office/drawing/2014/main" id="{0E8206A1-E20E-93EB-9EC0-90D02714A673}"/>
              </a:ext>
            </a:extLst>
          </p:cNvPr>
          <p:cNvSpPr txBox="1"/>
          <p:nvPr/>
        </p:nvSpPr>
        <p:spPr>
          <a:xfrm>
            <a:off x="731520" y="1280160"/>
            <a:ext cx="8595360" cy="2194560"/>
          </a:xfrm>
          <a:prstGeom prst="rect">
            <a:avLst/>
          </a:prstGeom>
          <a:noFill/>
          <a:ln/>
        </p:spPr>
        <p:txBody>
          <a:bodyPr wrap="square" lIns="0" tIns="0" rIns="0" bIns="0" rtlCol="0" anchor="t"/>
          <a:lstStyle/>
          <a:p>
            <a:pPr marL="0" indent="0" algn="l">
              <a:spcAft>
                <a:spcPts val="1400"/>
              </a:spcAft>
              <a:buNone/>
            </a:pPr>
            <a:endParaRPr lang="en-US" sz="2000" dirty="0"/>
          </a:p>
        </p:txBody>
      </p:sp>
      <p:pic>
        <p:nvPicPr>
          <p:cNvPr id="7" name="Picture 6">
            <a:extLst>
              <a:ext uri="{FF2B5EF4-FFF2-40B4-BE49-F238E27FC236}">
                <a16:creationId xmlns:a16="http://schemas.microsoft.com/office/drawing/2014/main" id="{7DA69B79-D40E-DBCA-8261-569F923722C3}"/>
              </a:ext>
            </a:extLst>
          </p:cNvPr>
          <p:cNvPicPr>
            <a:picLocks noChangeAspect="1"/>
          </p:cNvPicPr>
          <p:nvPr/>
        </p:nvPicPr>
        <p:blipFill>
          <a:blip r:embed="rId4"/>
          <a:stretch>
            <a:fillRect/>
          </a:stretch>
        </p:blipFill>
        <p:spPr>
          <a:xfrm>
            <a:off x="2638096" y="853043"/>
            <a:ext cx="4782207" cy="6571465"/>
          </a:xfrm>
          <a:prstGeom prst="rect">
            <a:avLst/>
          </a:prstGeom>
        </p:spPr>
      </p:pic>
    </p:spTree>
    <p:extLst>
      <p:ext uri="{BB962C8B-B14F-4D97-AF65-F5344CB8AC3E}">
        <p14:creationId xmlns:p14="http://schemas.microsoft.com/office/powerpoint/2010/main" val="1393378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CONCLUSION</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algn="just"/>
            <a:r>
              <a:rPr lang="en-IN" sz="2000" dirty="0">
                <a:latin typeface="Times New Roman" panose="02020603050405020304" pitchFamily="18" charset="0"/>
                <a:cs typeface="Times New Roman" panose="02020603050405020304" pitchFamily="18" charset="0"/>
              </a:rPr>
              <a:t>The Loan Risk Assessment System successfully applies Machine Learning techniques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loan application and financial information and predict the risk level of applicants. The project included data cleaning, exploratory data analysis, feature selection, and the creation of the Debt-to-Income (DTI) Ratio as an additional feature.</a:t>
            </a:r>
          </a:p>
          <a:p>
            <a:pPr algn="just"/>
            <a:r>
              <a:rPr lang="en-IN" sz="2000" dirty="0">
                <a:latin typeface="Times New Roman" panose="02020603050405020304" pitchFamily="18" charset="0"/>
                <a:cs typeface="Times New Roman" panose="02020603050405020304" pitchFamily="18" charset="0"/>
              </a:rPr>
              <a:t>Three Machine Learning models — Logistic Regression, Random Forest, and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 were trained using the prepared dataset. SMOTE was used to handle class imbalance and improve the representation of the risk classes during training. The models were evaluated using Accuracy, Precision, Recall, </a:t>
            </a:r>
            <a:r>
              <a:rPr lang="en-IN" sz="2000" dirty="0" err="1">
                <a:latin typeface="Times New Roman" panose="02020603050405020304" pitchFamily="18" charset="0"/>
                <a:cs typeface="Times New Roman" panose="02020603050405020304" pitchFamily="18" charset="0"/>
              </a:rPr>
              <a:t>F2</a:t>
            </a:r>
            <a:r>
              <a:rPr lang="en-IN" sz="2000" dirty="0">
                <a:latin typeface="Times New Roman" panose="02020603050405020304" pitchFamily="18" charset="0"/>
                <a:cs typeface="Times New Roman" panose="02020603050405020304" pitchFamily="18" charset="0"/>
              </a:rPr>
              <a:t>-Score, and ROC-AUC.</a:t>
            </a:r>
          </a:p>
          <a:p>
            <a:pPr algn="just"/>
            <a:r>
              <a:rPr lang="en-IN" sz="2000" dirty="0">
                <a:latin typeface="Times New Roman" panose="02020603050405020304" pitchFamily="18" charset="0"/>
                <a:cs typeface="Times New Roman" panose="02020603050405020304" pitchFamily="18" charset="0"/>
              </a:rPr>
              <a:t>The system provides a data-driven approach for identifying Low Risk and High Risk loan applicants. With the integration of a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interface, the trained model can provide loan-risk predictions through a simple and user-friendly application. Overall, the project demonstrates how Machine Learning can be applied to support a faster, consistent, and data-based loan risk assessment process.</a:t>
            </a:r>
          </a:p>
          <a:p>
            <a:pPr marL="0" indent="0" algn="just">
              <a:spcAft>
                <a:spcPts val="1400"/>
              </a:spcAft>
              <a:buNone/>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p:nvPr/>
        </p:nvSpPr>
        <p:spPr>
          <a:xfrm>
            <a:off x="2468880" y="274320"/>
            <a:ext cx="5120640" cy="457200"/>
          </a:xfrm>
          <a:prstGeom prst="roundRect">
            <a:avLst>
              <a:gd name="adj" fmla="val 24000"/>
            </a:avLst>
          </a:prstGeom>
          <a:solidFill>
            <a:srgbClr val="FF6A0D"/>
          </a:solidFill>
          <a:ln/>
          <a:effectLst>
            <a:outerShdw blurRad="50800" dist="25400" dir="5400000" algn="bl" rotWithShape="0">
              <a:srgbClr val="000000">
                <a:alpha val="35000"/>
              </a:srgbClr>
            </a:outerShdw>
          </a:effectLst>
        </p:spPr>
        <p:txBody>
          <a:bodyPr wrap="square" lIns="0" tIns="0" rIns="0" bIns="0" rtlCol="0" anchor="ctr"/>
          <a:lstStyle/>
          <a:p>
            <a:pPr marL="0" indent="0" algn="ctr">
              <a:buNone/>
            </a:pPr>
            <a:r>
              <a:rPr lang="en-US" sz="1950" b="1" dirty="0">
                <a:solidFill>
                  <a:srgbClr val="FFFFFF"/>
                </a:solidFill>
                <a:latin typeface="Times New Roman" pitchFamily="34" charset="0"/>
                <a:ea typeface="Times New Roman" pitchFamily="34" charset="-122"/>
                <a:cs typeface="Times New Roman" pitchFamily="34" charset="-120"/>
              </a:rPr>
              <a:t>FUTURE ENHANCEMENTS</a:t>
            </a:r>
            <a:endParaRPr lang="en-US" sz="1950" dirty="0"/>
          </a:p>
        </p:txBody>
      </p:sp>
      <p:sp>
        <p:nvSpPr>
          <p:cNvPr id="4" name="Text 1"/>
          <p:cNvSpPr txBox="1"/>
          <p:nvPr/>
        </p:nvSpPr>
        <p:spPr>
          <a:xfrm>
            <a:off x="731520" y="1280160"/>
            <a:ext cx="8595360" cy="6035040"/>
          </a:xfrm>
          <a:prstGeom prst="rect">
            <a:avLst/>
          </a:prstGeom>
          <a:noFill/>
          <a:ln/>
        </p:spPr>
        <p:txBody>
          <a:bodyPr wrap="square" lIns="0" tIns="0" rIns="0" bIns="0" rtlCol="0" anchor="t"/>
          <a:lstStyle/>
          <a:p>
            <a:pPr algn="just"/>
            <a:r>
              <a:rPr lang="en-IN" sz="2000" b="1" u="sng" dirty="0">
                <a:latin typeface="Times New Roman" panose="02020603050405020304" pitchFamily="18" charset="0"/>
                <a:cs typeface="Times New Roman" panose="02020603050405020304" pitchFamily="18" charset="0"/>
              </a:rPr>
              <a:t>Future Enhancements:</a:t>
            </a:r>
          </a:p>
          <a:p>
            <a:pPr algn="just"/>
            <a:r>
              <a:rPr lang="en-IN" sz="2000" dirty="0">
                <a:latin typeface="Times New Roman" panose="02020603050405020304" pitchFamily="18" charset="0"/>
                <a:cs typeface="Times New Roman" panose="02020603050405020304" pitchFamily="18" charset="0"/>
              </a:rPr>
              <a:t>• The system can be trained using larger and more diverse loan datasets to improve its ability to handle different applicant profiles.</a:t>
            </a:r>
          </a:p>
          <a:p>
            <a:pPr algn="just"/>
            <a:r>
              <a:rPr lang="en-IN" sz="2000" dirty="0">
                <a:latin typeface="Times New Roman" panose="02020603050405020304" pitchFamily="18" charset="0"/>
                <a:cs typeface="Times New Roman" panose="02020603050405020304" pitchFamily="18" charset="0"/>
              </a:rPr>
              <a:t>• Additional financial features such as employment history, repayment patterns, and credit history can be included for more detailed risk assessment.</a:t>
            </a:r>
          </a:p>
          <a:p>
            <a:pPr algn="just"/>
            <a:r>
              <a:rPr lang="en-IN" sz="2000" dirty="0">
                <a:latin typeface="Times New Roman" panose="02020603050405020304" pitchFamily="18" charset="0"/>
                <a:cs typeface="Times New Roman" panose="02020603050405020304" pitchFamily="18" charset="0"/>
              </a:rPr>
              <a:t>• Advanced Machine Learning and Deep Learning techniques can be explored to improve prediction performance.</a:t>
            </a:r>
          </a:p>
          <a:p>
            <a:pPr algn="just"/>
            <a:r>
              <a:rPr lang="en-IN" sz="2000" dirty="0">
                <a:latin typeface="Times New Roman" panose="02020603050405020304" pitchFamily="18" charset="0"/>
                <a:cs typeface="Times New Roman" panose="02020603050405020304" pitchFamily="18" charset="0"/>
              </a:rPr>
              <a:t>• The system can be integrated with real-time financial and credit data for more updated risk assessment.</a:t>
            </a:r>
          </a:p>
          <a:p>
            <a:pPr algn="just"/>
            <a:r>
              <a:rPr lang="en-IN" sz="2000" dirty="0">
                <a:latin typeface="Times New Roman" panose="02020603050405020304" pitchFamily="18" charset="0"/>
                <a:cs typeface="Times New Roman" panose="02020603050405020304" pitchFamily="18" charset="0"/>
              </a:rPr>
              <a:t>• The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application can be enhanced with a more interactive and user-friendly dashboard.</a:t>
            </a:r>
          </a:p>
          <a:p>
            <a:pPr algn="just"/>
            <a:r>
              <a:rPr lang="en-IN" sz="2000" dirty="0">
                <a:latin typeface="Times New Roman" panose="02020603050405020304" pitchFamily="18" charset="0"/>
                <a:cs typeface="Times New Roman" panose="02020603050405020304" pitchFamily="18" charset="0"/>
              </a:rPr>
              <a:t>• The system can provide explanations for each prediction, helping users understand which factors contributed to the predicted risk.</a:t>
            </a:r>
          </a:p>
          <a:p>
            <a:pPr algn="just"/>
            <a:r>
              <a:rPr lang="en-IN" sz="2000" dirty="0">
                <a:latin typeface="Times New Roman" panose="02020603050405020304" pitchFamily="18" charset="0"/>
                <a:cs typeface="Times New Roman" panose="02020603050405020304" pitchFamily="18" charset="0"/>
              </a:rPr>
              <a:t>• The application can be deployed on a cloud platform so that it can be accessed remotely.</a:t>
            </a:r>
          </a:p>
          <a:p>
            <a:pPr algn="just"/>
            <a:r>
              <a:rPr lang="en-IN" sz="2000" dirty="0">
                <a:latin typeface="Times New Roman" panose="02020603050405020304" pitchFamily="18" charset="0"/>
                <a:cs typeface="Times New Roman" panose="02020603050405020304" pitchFamily="18" charset="0"/>
              </a:rPr>
              <a:t>• Future versions can include automatic model retraining when new loan data becomes available.</a:t>
            </a:r>
          </a:p>
          <a:p>
            <a:pPr marL="0" indent="0" algn="just">
              <a:spcAft>
                <a:spcPts val="1400"/>
              </a:spcAft>
              <a:buNone/>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logo_small.jpg"/>
          <p:cNvPicPr>
            <a:picLocks noChangeAspect="1"/>
          </p:cNvPicPr>
          <p:nvPr/>
        </p:nvPicPr>
        <p:blipFill>
          <a:blip r:embed="rId3"/>
          <a:stretch>
            <a:fillRect/>
          </a:stretch>
        </p:blipFill>
        <p:spPr>
          <a:xfrm>
            <a:off x="274320" y="182880"/>
            <a:ext cx="1188720" cy="434340"/>
          </a:xfrm>
          <a:prstGeom prst="rect">
            <a:avLst/>
          </a:prstGeom>
        </p:spPr>
      </p:pic>
      <p:sp>
        <p:nvSpPr>
          <p:cNvPr id="3" name="Text 0"/>
          <p:cNvSpPr txBox="1"/>
          <p:nvPr/>
        </p:nvSpPr>
        <p:spPr>
          <a:xfrm>
            <a:off x="1828800" y="3291840"/>
            <a:ext cx="6400800" cy="1097280"/>
          </a:xfrm>
          <a:prstGeom prst="rect">
            <a:avLst/>
          </a:prstGeom>
          <a:noFill/>
          <a:ln/>
        </p:spPr>
        <p:txBody>
          <a:bodyPr wrap="square" lIns="0" tIns="0" rIns="0" bIns="0" rtlCol="0" anchor="ctr"/>
          <a:lstStyle/>
          <a:p>
            <a:pPr marL="0" indent="0" algn="ctr">
              <a:buNone/>
            </a:pPr>
            <a:r>
              <a:rPr lang="en-US" sz="4800" b="1" dirty="0">
                <a:solidFill>
                  <a:srgbClr val="7030A0"/>
                </a:solidFill>
                <a:latin typeface="Times New Roman" pitchFamily="34" charset="0"/>
                <a:ea typeface="Times New Roman" pitchFamily="34" charset="-122"/>
                <a:cs typeface="Times New Roman" pitchFamily="34" charset="-120"/>
              </a:rPr>
              <a:t>THANK YOU</a:t>
            </a: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309</TotalTime>
  <Words>2939</Words>
  <Application>Microsoft Office PowerPoint</Application>
  <PresentationFormat>Custom</PresentationFormat>
  <Paragraphs>209</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ChaitanyaBalabhadra</dc:creator>
  <cp:keywords>ML PROJECT</cp:keywords>
  <cp:lastModifiedBy>Chaitanya Balabhadra</cp:lastModifiedBy>
  <cp:revision>7</cp:revision>
  <dcterms:created xsi:type="dcterms:W3CDTF">2026-09-28T15:24:03Z</dcterms:created>
  <dcterms:modified xsi:type="dcterms:W3CDTF">2026-10-26T07:14:02Z</dcterms:modified>
</cp:coreProperties>
</file>